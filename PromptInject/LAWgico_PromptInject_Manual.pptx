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260000"/>
            <a:ext cx="28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8000" y="1260000"/>
            <a:ext cx="28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8000" y="118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Calibri"/>
              </a:rPr>
              <a:t>prompt inject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9519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Manual do Usuário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528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8E0"/>
                </a:solidFill>
                <a:latin typeface="Calibri"/>
              </a:rPr>
              <a:t>Detecção de Prompt Injection e Análise de Risco Jurídico em Peças Processuais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140000"/>
            <a:ext cx="86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F93"/>
                </a:solidFill>
                <a:latin typeface="Calibri"/>
              </a:rPr>
              <a:t>Peixoto &amp; Cury Advogados  ·  Controladoria  ·  June de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5040000"/>
            <a:ext cx="1620000" cy="251999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000" y="505800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IA Claude Opus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40000" y="5040000"/>
            <a:ext cx="1620000" cy="251999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94000" y="5058000"/>
            <a:ext cx="151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Scan Estático + 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0000" y="5040000"/>
            <a:ext cx="900000" cy="251999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4000" y="5058000"/>
            <a:ext cx="7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44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 que é o LAWgico Prompt Inject?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3200" y="10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0C8E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007999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E36"/>
                </a:solidFill>
                <a:latin typeface="Calibri"/>
              </a:rPr>
              <a:t>Contexto: O que é Prompt Injection?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404000"/>
            <a:ext cx="79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Modelos de IA (como Claude) processam texto de documentos enviados pelo usuário.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Agentes mal-intencionados podem inserir instruções ocultas dentro de PDFs — chamadas de prompt injection.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Essas instruções tentam 'sequestrar' a IA para que ignore o contexto jurídico e execute comandos maliciosos.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Exemplo real detectado: boleto da Claro embutido numa petição trabalhista da Telefônica.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42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E36"/>
                </a:solidFill>
                <a:latin typeface="Calibri"/>
              </a:rPr>
              <a:t>O que o sistema 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3780000"/>
            <a:ext cx="792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🔍  Scan estático — detecta padrões suspeitos sem IA (rápido, sempre roda)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🤖  Análise IA (Claude Opus) — confirma ou descarta com citação obrigatória de trecho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⚖️  Risco jurídico — nível de agressividade 1–5, verbas pedidas, teses e pontos de atenção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📊  Relatório Excel — exportável para a sócia responsável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44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Como usar — Passo a passo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3200" y="10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0C8E0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07999"/>
            <a:ext cx="3600000" cy="172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007999"/>
            <a:ext cx="3600000" cy="324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3999" y="1025999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1044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Acesse o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440000"/>
            <a:ext cx="3311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lawgico-prompt-inject.streamlit.app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0" y="1007999"/>
            <a:ext cx="3600000" cy="172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0000" y="1007999"/>
            <a:ext cx="3600000" cy="324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000" y="1025999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0" y="1044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Informe o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8000" y="1440000"/>
            <a:ext cx="3311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Campo opcional — ex: Telefônica, Bridgestone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8000" y="1007999"/>
            <a:ext cx="3600000" cy="172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8000" y="1007999"/>
            <a:ext cx="3600000" cy="324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0000" y="1025999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8000" y="1044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Escolha o modo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6000" y="1440000"/>
            <a:ext cx="3311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Completo (padrão) · Só Injection · Só Risco Jurídico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88000"/>
            <a:ext cx="3600000" cy="172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000" y="2988000"/>
            <a:ext cx="3600000" cy="324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999" y="3006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0" y="3024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Faça upload dos PDFs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3420000"/>
            <a:ext cx="3311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Qualquer peça: inicial, sentença, laudo, contestação...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2988000"/>
            <a:ext cx="3600000" cy="172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0000" y="2988000"/>
            <a:ext cx="3600000" cy="324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92000" y="3006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0000" y="3024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Clique Analisar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8000" y="3420000"/>
            <a:ext cx="3311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O sistema processa: scan estático → IA → resultado por documento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08000" y="2988000"/>
            <a:ext cx="3600000" cy="172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08000" y="2988000"/>
            <a:ext cx="3600000" cy="324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0000" y="3006000"/>
            <a:ext cx="5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48000" y="3024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Exporte o relatório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6000" y="3420000"/>
            <a:ext cx="3311999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1E36"/>
                </a:solidFill>
                <a:latin typeface="Calibri"/>
              </a:rPr>
              <a:t>Aba Relatório → Gerar Excel com todas as análises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44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Modos de Análise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3200" y="10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0C8E0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07999"/>
            <a:ext cx="3671999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007999"/>
            <a:ext cx="3671999" cy="432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044000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🔍  Completo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584000"/>
            <a:ext cx="342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Modo padrão — recomendado para todos os casos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Executa scan estático + análise IA Claude Opus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Detecta: injection + avalia risco jurídico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Resultado: score de risco, nível de agressividade,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  verbas pedidas e teses identificadas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0" y="1007999"/>
            <a:ext cx="3671999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0000" y="1007999"/>
            <a:ext cx="3671999" cy="432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8000" y="1044000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🛡️  Só Prompt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4000" y="1584000"/>
            <a:ext cx="342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Foca apenas na detecção de conteúdo malicioso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Scan estático (Unicode invisível, resets, fake JSON,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  conteúdo fora de contexto)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Análise IA confirma ou descarta com citação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Ideal para varredura rápida de grandes lotes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8000" y="1007999"/>
            <a:ext cx="3671999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8000" y="1007999"/>
            <a:ext cx="3671999" cy="432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6000" y="1044000"/>
            <a:ext cx="34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⚖️  Só Análise de Risco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2000" y="1584000"/>
            <a:ext cx="342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Analisa apenas o risco jurídico do documento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Nível de agressividade 1–5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Identifica: verbas pedidas, valor estimado,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  teses jurídicas e pontos de atenção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1E36"/>
                </a:solidFill>
                <a:latin typeface="Calibri"/>
              </a:rPr>
              <a:t>Útil para triagem de carteira sem foco em injection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44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Níveis de Risco e Agressividade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3200" y="10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0C8E0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900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E36"/>
                </a:solidFill>
                <a:latin typeface="Calibri"/>
              </a:rPr>
              <a:t>Prompt Injection — Risco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260000"/>
            <a:ext cx="1260000" cy="39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332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CRÍTICO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0" y="1314000"/>
            <a:ext cx="36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Unicode invisível em massa, fake JSON, jailbreak, marcadores de 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764000"/>
            <a:ext cx="1260000" cy="39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000" y="1836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0" y="1818000"/>
            <a:ext cx="36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Reset de instrução, 'ignore previous', identidade falsa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268000"/>
            <a:ext cx="1260000" cy="3960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2340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MÉDIO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0" y="2322000"/>
            <a:ext cx="36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Conteúdo fora de contexto (boleto, nota fiscal), caracteres suspeitos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771999"/>
            <a:ext cx="1260000" cy="396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000" y="284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F46"/>
                </a:solidFill>
                <a:latin typeface="Calibri"/>
              </a:rPr>
              <a:t>LIMPO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2826000"/>
            <a:ext cx="36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Nenhuma anomalia detectada — documento processual legítimo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900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E36"/>
                </a:solidFill>
                <a:latin typeface="Calibri"/>
              </a:rPr>
              <a:t>Agressividade Jurídica — Nível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1260000"/>
            <a:ext cx="900000" cy="324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6000" y="1296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F46"/>
                </a:solidFill>
                <a:latin typeface="Calibri"/>
              </a:rPr>
              <a:t>N1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0" y="1296000"/>
            <a:ext cx="45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Rotineiro — pedidos conservadores, sem cálculos agressivos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0000" y="1674000"/>
            <a:ext cx="900000" cy="32400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6000" y="1710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F46"/>
                </a:solidFill>
                <a:latin typeface="Calibri"/>
              </a:rPr>
              <a:t>N2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8000" y="1710000"/>
            <a:ext cx="45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Moderado — alguns pedidos além do padrão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000" y="2088000"/>
            <a:ext cx="900000" cy="32400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6000" y="2124000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13F12"/>
                </a:solidFill>
                <a:latin typeface="Calibri"/>
              </a:rPr>
              <a:t>N3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8000" y="2124000"/>
            <a:ext cx="45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Elevado — verbas agressivas, honorários altos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000" y="2501999"/>
            <a:ext cx="900000" cy="324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56000" y="2537999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N4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28000" y="2537999"/>
            <a:ext cx="45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Alto — pedidos acima de R$500k, teses arriscadas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0000" y="2916000"/>
            <a:ext cx="900000" cy="32400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56000" y="2951999"/>
            <a:ext cx="7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Calibri"/>
              </a:rPr>
              <a:t>N5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8000" y="2951999"/>
            <a:ext cx="45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E36"/>
                </a:solidFill>
                <a:latin typeface="Calibri"/>
              </a:rPr>
              <a:t>Crítico — valor alto + teses agressivas + dano moral maximizado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44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Whitelist PJe — Evitando Falsos Positivos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3200" y="10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0C8E0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007999"/>
            <a:ext cx="9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E36"/>
                </a:solidFill>
                <a:latin typeface="Calibri"/>
              </a:rPr>
              <a:t>O problema dos falsos positivos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368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PDFs do PJe contêm assinaturas digitais com hashes SHA-256 — sequências longas de caracteres alfanuméricos.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Sem whitelist, o sistema detectaria essas sequências como 'caracteres suspeitos' (falso positivo).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03B5C"/>
                </a:solidFill>
                <a:latin typeface="Calibri"/>
              </a:rPr>
              <a:t>Resultado anterior no piloto Telefônica: 1 falso positivo por hash de assinatura digital.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592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E36"/>
                </a:solidFill>
                <a:latin typeface="Calibri"/>
              </a:rPr>
              <a:t>Whitelist implementada — o sistema reconhece e ignora: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2988000"/>
            <a:ext cx="720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065F46"/>
                </a:solidFill>
                <a:latin typeface="Calibri"/>
              </a:rPr>
              <a:t>✅  'Assinado eletronicamente' / 'Assinado digitalmente'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65F46"/>
                </a:solidFill>
                <a:latin typeface="Calibri"/>
              </a:rPr>
              <a:t>✅  SHA-256 / SHA-512 / MD5 seguidos de hash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65F46"/>
                </a:solidFill>
                <a:latin typeface="Calibri"/>
              </a:rPr>
              <a:t>✅  'Código de verificação' (QR Code PJe)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65F46"/>
                </a:solidFill>
                <a:latin typeface="Calibri"/>
              </a:rPr>
              <a:t>✅  'Certificado digital ICP-Brasil'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65F46"/>
                </a:solidFill>
                <a:latin typeface="Calibri"/>
              </a:rPr>
              <a:t>✅  'PJe — Processo Judicial Eletrônico'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065F46"/>
                </a:solidFill>
                <a:latin typeface="Calibri"/>
              </a:rPr>
              <a:t>✅  'Chave de assinatura'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5400000"/>
            <a:ext cx="11160000" cy="1007999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00" y="5472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2400E"/>
                </a:solidFill>
                <a:latin typeface="Calibri"/>
              </a:rPr>
              <a:t>⚠️  Fila de Revisão 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00" y="5796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3F12"/>
                </a:solidFill>
                <a:latin typeface="Calibri"/>
              </a:rPr>
              <a:t>Quando o scan estático e a IA discordam — ex: estático detecta ALTO mas IA classifica LIMPO — o documento vai para a fila de revisão com confiança MÉDIA. O revisor humano decide o resultado final.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44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Abas do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3200" y="10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0C8E0"/>
                </a:solidFill>
                <a:latin typeface="Calibr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07999"/>
            <a:ext cx="2160000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007999"/>
            <a:ext cx="2160000" cy="396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3999" y="1044000"/>
            <a:ext cx="1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📊 Visão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512000"/>
            <a:ext cx="198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KPIs: total analisado, CRÍTICO, ALTO,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fila de revisão e nível 4–5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Texto para envio por Teams / e-mail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Visão consolidada de todos os documentos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36000" y="1007999"/>
            <a:ext cx="2160000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36000" y="1007999"/>
            <a:ext cx="2160000" cy="396000"/>
          </a:xfrm>
          <a:prstGeom prst="rect">
            <a:avLst/>
          </a:prstGeom>
          <a:solidFill>
            <a:srgbClr val="00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8000" y="1044000"/>
            <a:ext cx="1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📋 Processos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1512000"/>
            <a:ext cx="198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Tabela com um resultado por arquivo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Filtros por risco de injection e agressividade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Detalhes: método extração, páginas, chars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Ordenado por risco decrescente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0000" y="1007999"/>
            <a:ext cx="2160000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0000" y="1007999"/>
            <a:ext cx="2160000" cy="396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2000" y="1044000"/>
            <a:ext cx="1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🛡️ Injeções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00" y="1512000"/>
            <a:ext cx="198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Detalhe de cada achado de injection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Tipo, risco, confiança e trecho citado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Cards com cor por nível de risco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Somente documentos com achados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44000" y="1007999"/>
            <a:ext cx="2160000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44000" y="1007999"/>
            <a:ext cx="2160000" cy="39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6000" y="1044000"/>
            <a:ext cx="1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⚠️ Revisar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000" y="1512000"/>
            <a:ext cx="198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Documentos na fila de revisão manual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Scan e IA discordaram — requer decisão humana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Botão de ação: confirmar ou descartar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Histórico de revisões da sessão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8000" y="1007999"/>
            <a:ext cx="2160000" cy="48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8000" y="1007999"/>
            <a:ext cx="2160000" cy="396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20000" y="1044000"/>
            <a:ext cx="1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📥 Relatório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000" y="1512000"/>
            <a:ext cx="1980000" cy="4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Gerar Excel com 3 abas: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  · Resumo executivo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  · Todos os documentos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  · Suspeitos com detalhe de achados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44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Caso Real — Piloto Telefônica (336 processos)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3200" y="10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90C8E0"/>
                </a:solidFill>
                <a:latin typeface="Calibr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07999"/>
            <a:ext cx="3600000" cy="5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080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CRÍTICO — Confirmado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1440000"/>
            <a:ext cx="3311999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Processo: carteira Telefônica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Achado: BOM (U+FEFF) + boleto da Claro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embutido na petição trabalhista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Scan estático: CRÍTICO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IA Claude: CRÍTICO — confirmado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Confiança: Alta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Trecho citado pela IA: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"código de barras: 836600000..."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"Claro S.A. — vencimento: 15/03"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→ Conteúdo completamente fora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de contexto processual trabalhista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0" y="1007999"/>
            <a:ext cx="3600000" cy="5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4000" y="1080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INCERTO — Fila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4000" y="1440000"/>
            <a:ext cx="3311999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Achado: sequência Log[...]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Scan: MÉDIO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IA: LIMPO (provável artefato)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→ Discordância → fila manual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→ Nova ferramenta detecta e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  sinaliza corretamente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2000" y="1007999"/>
            <a:ext cx="3600000" cy="52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24000" y="1080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F46"/>
                </a:solidFill>
                <a:latin typeface="Calibri"/>
              </a:rPr>
              <a:t>FALSO POSITIVO — Corrigido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4000" y="1440000"/>
            <a:ext cx="3311999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Hash SHA-256 do PJe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detectado como 'caracteres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suspeitos' no piloto antigo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Nova ferramenta: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→ Whitelist PJe implementada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→ Assinaturas digitais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  ignoradas automaticamente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1E36"/>
                </a:solidFill>
                <a:latin typeface="Calibri"/>
              </a:rPr>
              <a:t>→ Zero falsos positivos de PJe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00A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260000"/>
            <a:ext cx="28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8000" y="1260000"/>
            <a:ext cx="28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gico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8000" y="118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9E0"/>
                </a:solidFill>
                <a:latin typeface="Calibri"/>
              </a:rPr>
              <a:t>prompt inject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240000"/>
            <a:ext cx="90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Dúvidas? Fale com a Controladoria.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888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A9E0"/>
                </a:solidFill>
                <a:latin typeface="Calibri"/>
              </a:rPr>
              <a:t>lawgico-prompt-inject.streamlit.app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50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F93"/>
                </a:solidFill>
                <a:latin typeface="Calibri"/>
              </a:rPr>
              <a:t>Peixoto &amp; Cury Advogados  ·  June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