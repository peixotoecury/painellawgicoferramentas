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37719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31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007999"/>
            <a:ext cx="72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LAWgico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32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A9E0"/>
                </a:solidFill>
                <a:latin typeface="Calibri"/>
              </a:rPr>
              <a:t>cálculos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671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Manual de Utilização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212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C8E0"/>
                </a:solidFill>
                <a:latin typeface="Calibri"/>
              </a:rPr>
              <a:t>Plataforma de Cálculos Trabalhistas com Inteligência Artificial
Peixoto &amp; Cury Advogados  ·  Controladoria Time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2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  <a:latin typeface="Calibri"/>
              </a:rPr>
              <a:t>June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 que é o LAWgico Cálculos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Plataforma que substitui o contador nos cálculos trabalhistas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115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B5C"/>
                </a:solidFill>
                <a:latin typeface="Calibri"/>
              </a:rPr>
              <a:t>Acesso: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386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9E0"/>
                </a:solidFill>
                <a:latin typeface="Calibri"/>
              </a:rPr>
              <a:t>calculos-pc.streamlit.app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728000"/>
            <a:ext cx="3528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1728000"/>
            <a:ext cx="3528000" cy="432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1835999"/>
            <a:ext cx="3311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📋 Lê documentos jurídicos
automaticamente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412000"/>
            <a:ext cx="3311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93"/>
                </a:solidFill>
                <a:latin typeface="Calibri"/>
              </a:rPr>
              <a:t>Inicial, laudos, sentenças e
cálculos já liquidados (PJCalc)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8000" y="1728000"/>
            <a:ext cx="3528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000" y="1728000"/>
            <a:ext cx="3528000" cy="432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6000" y="1835999"/>
            <a:ext cx="3311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📐 Calcula com precisão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6000" y="2412000"/>
            <a:ext cx="3311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93"/>
                </a:solidFill>
                <a:latin typeface="Calibri"/>
              </a:rPr>
              <a:t>Motor ADC 58 STF, IPCA-E + SELIC,
Insalubridade, Periculosidade, Pensão 950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3999" y="1728000"/>
            <a:ext cx="3528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3999" y="1728000"/>
            <a:ext cx="3528000" cy="432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2000" y="1835999"/>
            <a:ext cx="3311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📊 Exporta prontos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2000" y="2412000"/>
            <a:ext cx="3311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93"/>
                </a:solidFill>
                <a:latin typeface="Calibri"/>
              </a:rPr>
              <a:t>Excel e PDF com todo o
quadro financeiro e memória de cálculo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3600000"/>
            <a:ext cx="1132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1E36"/>
                </a:solidFill>
                <a:latin typeface="Calibri"/>
              </a:rPr>
              <a:t>O sistema usa Claude Opus (IA da Anthropic) com raciocínio adaptativo para ler e interpretar documentos trabalhistas com precisão de perito.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4 Fluxos de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Selecione o fluxo correto conforme o documento que você 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80000"/>
            <a:ext cx="2736000" cy="388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2736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" y="115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1206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B5C"/>
                </a:solidFill>
                <a:latin typeface="Calibri"/>
              </a:rPr>
              <a:t>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1494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F93"/>
                </a:solidFill>
                <a:latin typeface="Calibri"/>
              </a:rPr>
              <a:t>(Petição inicial)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1710000"/>
            <a:ext cx="2520000" cy="216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180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Estima as verbas pleiteadas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" y="223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Tudo classificado como Possível (CPC 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" y="2664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Calcula o risco máximo da 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3096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Use para provisão contábil inicial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000" y="1080000"/>
            <a:ext cx="2736000" cy="388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000" y="1080000"/>
            <a:ext cx="2736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4000" y="115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0" y="1206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B5C"/>
                </a:solidFill>
                <a:latin typeface="Calibri"/>
              </a:rPr>
              <a:t>Atualizar Cálculo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4000" y="1494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F93"/>
                </a:solidFill>
                <a:latin typeface="Calibri"/>
              </a:rPr>
              <a:t>(PDF de cálculo liquidado)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4000" y="1710000"/>
            <a:ext cx="2520000" cy="216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4000" y="180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Lê qualquer cálculo pronto (PJCalc, perito)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4000" y="223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Extrai verbas com competência e hist.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4000" y="2664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Reatualiza para nova data-base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4000" y="3096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Mostra total original × atualizado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2000" y="1080000"/>
            <a:ext cx="2736000" cy="388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2000" y="1080000"/>
            <a:ext cx="2736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000" y="115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5999" y="1206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B5C"/>
                </a:solidFill>
                <a:latin typeface="Calibri"/>
              </a:rPr>
              <a:t>Laudo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000" y="1494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F93"/>
                </a:solidFill>
                <a:latin typeface="Calibri"/>
              </a:rPr>
              <a:t>(Inicial + laudo pericial)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0000" y="1710000"/>
            <a:ext cx="2520000" cy="216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000" y="180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Laudo médico → pensão art. 950 CC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000" y="223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Laudo técnico → insalubridade/periculosidade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664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Cruza pedidos da inicial com achados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000" y="3096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Confirmado = Provável / Negado = Remoto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07999" y="1080000"/>
            <a:ext cx="2736000" cy="388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07999" y="1080000"/>
            <a:ext cx="2736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6000" y="115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1999" y="1206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B5C"/>
                </a:solidFill>
                <a:latin typeface="Calibri"/>
              </a:rPr>
              <a:t>Sentença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6000" y="1494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F93"/>
                </a:solidFill>
                <a:latin typeface="Calibri"/>
              </a:rPr>
              <a:t>(Inicial + sentença)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6000" y="1710000"/>
            <a:ext cx="2520000" cy="216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6000" y="1800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Identifica deferidos e indeferidos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6000" y="223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Deferido = Provável / Indeferido = Remoto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6000" y="2664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Calcula liquidação completa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6000" y="3096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Pronto para provisão e acordo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Como Usar — Passo a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Do upload ao download em 4 etapas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080000"/>
            <a:ext cx="324000" cy="324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1080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1098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Sidebar — Parâmetros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13860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Índice de correção: IPCA-E + SELIC (ADC 58) — padrão recomendado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16452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Mês-base do cálculo: data até onde corrigir os valores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" y="19044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Honorários (%): percentual definido na sentença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" y="21636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SAT: 1% (baixo) / 2% (médio) / 3% (alto risco)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448000"/>
            <a:ext cx="324000" cy="324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2448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" y="2466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Documento &amp; Análise —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27540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Clique no botão do fluxo: Inicial / Atualizar Cálculo / Laudo / Sentença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3013199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Carregue o PDF principal (arraste ou clique)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32724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Para Laudo e Sentença: carregue também a Petição Inicial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" y="3531599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Informe a data de ajuizamento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37908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Clique '🤖 Analisar com IA' e aguarde ~15-30 segundos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3816000"/>
            <a:ext cx="324000" cy="324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00" y="3816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3834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Resultado &amp; Cálculo — Revisão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" y="4121999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Confira o Resumo Financeiro (histórico, CM, juros, total)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000" y="43812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Veja a Provisão CPC 25 por classificação de risco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000" y="46404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Leia a Memória de Cálculo por verba (fórmula aplicada)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000" y="48996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Mude a data-base e clique 'Recalcular' sem chamar a IA novamente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5183999"/>
            <a:ext cx="324000" cy="3240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5183999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000" y="5202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Exportar / Acordo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000" y="5489999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Baixe o Excel (.xlsx) ou PDF com o relatório completo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000" y="5749200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Acesse a aba Acordo para simular o custo real de um acordo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000" y="6008399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Defina valor fixo ou % do calculado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000" y="6267599"/>
            <a:ext cx="11365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Ajuste proporção salarial × indenizatória para otimizar o custo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Adicionais de Insalubridade e Periculosidade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Bases de cálculo e regras aplicadas automaticamente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116000"/>
            <a:ext cx="5400000" cy="3744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1116000"/>
            <a:ext cx="5400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18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B5C"/>
                </a:solidFill>
                <a:latin typeface="Calibri"/>
              </a:rPr>
              <a:t>🧪 Insalubridade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154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0" y="1548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Salário Mínimo Federal do mês (nunca o salário do empregado)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1800000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212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Graus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2124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Mínimo 10%  /  Médio 20%  /  Máximo 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376000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270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Fórmula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0" y="2700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SM do mês × grau%  ×  nº de meses do período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999" y="2951999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27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SM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0000" y="3276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R$ 1.518  |  2024: R$ 1.412  |  2023: R$ 1.320  |  2022: R$ 1.212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999" y="3528000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851999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Reflexos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0000" y="3851999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13º, Férias+1/3 e FGTS listados como verbas separadas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1116000"/>
            <a:ext cx="5400000" cy="3744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000" y="1116000"/>
            <a:ext cx="54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8000" y="118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B5C"/>
                </a:solidFill>
                <a:latin typeface="Calibri"/>
              </a:rPr>
              <a:t>⚡ Periculosidade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8000" y="154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8000" y="1548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Salário Base do empregado (nunca o salário mínimo)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000" y="1800000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8000" y="212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Percentual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8000" y="2124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Fixo: 30% — sempre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6000" y="2376000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8000" y="270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Fórmula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8000" y="2700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Salário_base × 0,30  ×  nº de meses do período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6000" y="2951999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8000" y="327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Atividades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8000" y="3276000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Inflamáveis, explosivos, energia elétrica, radiação ionizante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6000" y="3528000"/>
            <a:ext cx="5256000" cy="7200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8000" y="3851999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Reflexos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8000" y="3851999"/>
            <a:ext cx="38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13º, Férias+1/3 e FGTS listados como verbas separadas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Pensão por Incapacidade — Art. 950 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Cálculo automático com split vencidas × vincendas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1116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5C"/>
                </a:solidFill>
                <a:latin typeface="Calibri"/>
              </a:rPr>
              <a:t>Como funciona: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404000"/>
            <a:ext cx="109800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1422000"/>
            <a:ext cx="106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1E36"/>
                </a:solidFill>
                <a:latin typeface="Calibri"/>
              </a:rPr>
              <a:t>Pensão mensal  =  Salário base  ×  % de incapacidade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800000"/>
            <a:ext cx="109800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1818000"/>
            <a:ext cx="106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Data limite     =  Nascimento + expectativa de vida (tabela IBGE)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196000"/>
            <a:ext cx="109800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214000"/>
            <a:ext cx="106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Meses totais    =  Parcelas vencidas + parcelas vincendas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592000"/>
            <a:ext cx="109800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2610000"/>
            <a:ext cx="106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Parcela única   =  Total bruto  ×  (1 − redutor%)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060000"/>
            <a:ext cx="5400000" cy="180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000" y="3060000"/>
            <a:ext cx="5400000" cy="432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3131999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5C"/>
                </a:solidFill>
                <a:latin typeface="Calibri"/>
              </a:rPr>
              <a:t>📅 Vencidas — com correção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3456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Parcelas já devidas (marco inicial → hoje)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" y="385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Recebem correção monetária + juros SELIC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" y="424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Corrigidas como qualquer outro débito trabalhista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3060000"/>
            <a:ext cx="5400000" cy="180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0000" y="3060000"/>
            <a:ext cx="5400000" cy="432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3999" y="3131999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📈 Vincendas — sem correção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3999" y="3456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Prestações futuras (hoje → data limite IBGE)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999" y="385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SEM correção monetária e SEM juros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999" y="424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• Ainda não venceram — redutor já é o desconto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5076000"/>
            <a:ext cx="11329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F93"/>
                </a:solidFill>
                <a:latin typeface="Calibri"/>
              </a:rPr>
              <a:t>O sistema identifica automaticamente o % de incapacidade, datas e expectativa IBGE a partir do laudo médico ou sentença.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Correção Monetária — ADC 58 STF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Regra aplicada automaticamente em todos os fluxos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1116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B5C"/>
                </a:solidFill>
                <a:latin typeface="Calibri"/>
              </a:rPr>
              <a:t>Índices disponíveis na sidebar: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386000"/>
            <a:ext cx="11329200" cy="295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4292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✅ IPCA-E + SELIC (ADC 58)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1429200"/>
            <a:ext cx="7153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Padrão — obrigatório para condenações pós nov/2021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710000"/>
            <a:ext cx="113292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17532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TR + 1% a.m.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753200"/>
            <a:ext cx="7153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Taxa Referencial + 1% ao mês (contratos FGTS, financiamentos)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034000"/>
            <a:ext cx="11329200" cy="295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20772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IPCA-E + 1% a.m.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2077200"/>
            <a:ext cx="7153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Correção integral IPCA-E para todo o período (pré-ADC 58)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358000"/>
            <a:ext cx="11329200" cy="2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4012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9E0"/>
                </a:solidFill>
                <a:latin typeface="Calibri"/>
              </a:rPr>
              <a:t>Sem correção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0000" y="2401200"/>
            <a:ext cx="71531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Retorna apenas o valor histórico sem atualização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2754000"/>
            <a:ext cx="11329200" cy="216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2844000"/>
            <a:ext cx="5400000" cy="198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2844000"/>
            <a:ext cx="5400000" cy="54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2916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B5C"/>
                </a:solidFill>
                <a:latin typeface="Calibri"/>
              </a:rPr>
              <a:t>Fase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3221999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E36"/>
                </a:solidFill>
                <a:latin typeface="Calibri"/>
              </a:rPr>
              <a:t>Competência → Out/2021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3491999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IPCA-E acumulado + Juros simples de 1% a.m.
sobre o valor histórico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2844000"/>
            <a:ext cx="5400000" cy="198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0000" y="2844000"/>
            <a:ext cx="5400000" cy="54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3999" y="2916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9E0"/>
                </a:solidFill>
                <a:latin typeface="Calibri"/>
              </a:rPr>
              <a:t>Fase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3999" y="3221999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E36"/>
                </a:solidFill>
                <a:latin typeface="Calibri"/>
              </a:rPr>
              <a:t>Nov/2021 → Data-base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3999" y="3491999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SELIC acumulada (BCB)
Engloba correção e juros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4932000"/>
            <a:ext cx="11329200" cy="251999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4960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Encargos calculados automaticamente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4176000"/>
            <a:ext cx="113292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000" y="42192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FGTS 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0000" y="42192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Verbas salariais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0000" y="42192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Empregador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4507200"/>
            <a:ext cx="113292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00" y="45504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Multa FGTS 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0000" y="45504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Total FGTS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0000" y="45504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Empregador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4838400"/>
            <a:ext cx="113292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000" y="48816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INSS (tabela 2025)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0000" y="48816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Verbas salariais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0000" y="48816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Desconto reclamante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000" y="5169600"/>
            <a:ext cx="113292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000" y="52127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IR — Método RRA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0000" y="52127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Art. 12-A Lei 7.713/88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0000" y="52127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Desconto reclamante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000" y="5500800"/>
            <a:ext cx="113292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000" y="5543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INSS Empresa 20%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0000" y="55439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Verbas salariais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60000" y="5543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Empregador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000" y="5832000"/>
            <a:ext cx="113292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0000" y="58752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SAT (1-3%)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0000" y="58752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Configurável na sidebar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60000" y="58752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Empregador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2000" y="6163200"/>
            <a:ext cx="11329200" cy="30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000" y="62064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B5C"/>
                </a:solidFill>
                <a:latin typeface="Calibri"/>
              </a:rPr>
              <a:t>Honorários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0000" y="62064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% configurável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0000" y="62064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F93"/>
                </a:solidFill>
                <a:latin typeface="Calibri"/>
              </a:rPr>
              <a:t>Empregador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Provisão CPC 25 e Simulador de Acordo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Classificação contábil e otimização do valor do acordo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1152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Classificação de Risco — CPC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475999"/>
            <a:ext cx="3528000" cy="1368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54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F46"/>
                </a:solidFill>
                <a:latin typeface="Calibri"/>
              </a:rPr>
              <a:t>Provável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1835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5F46"/>
                </a:solidFill>
                <a:latin typeface="Calibri"/>
              </a:rPr>
              <a:t>&gt;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05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  <a:latin typeface="Calibri"/>
              </a:rPr>
              <a:t>Provisionar no Passivo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8000" y="1475999"/>
            <a:ext cx="3528000" cy="1368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6000" y="154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2400E"/>
                </a:solidFill>
                <a:latin typeface="Calibri"/>
              </a:rPr>
              <a:t>Possível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6000" y="1835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400E"/>
                </a:solidFill>
                <a:latin typeface="Calibri"/>
              </a:rPr>
              <a:t>25–50%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6000" y="205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  <a:latin typeface="Calibri"/>
              </a:rPr>
              <a:t>Nota Explicativa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3999" y="1475999"/>
            <a:ext cx="3528000" cy="1368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2000" y="154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1B1B"/>
                </a:solidFill>
                <a:latin typeface="Calibri"/>
              </a:rPr>
              <a:t>Remoto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2000" y="1835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1B1B"/>
                </a:solidFill>
                <a:latin typeface="Calibri"/>
              </a:rPr>
              <a:t>&lt; 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2000" y="205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Calibri"/>
              </a:rPr>
              <a:t>Sem ação contábil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06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C"/>
                </a:solidFill>
                <a:latin typeface="Calibri"/>
              </a:rPr>
              <a:t>Simulador de Acordo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348000"/>
            <a:ext cx="11329200" cy="216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3456000"/>
            <a:ext cx="3528000" cy="162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000" y="3456000"/>
            <a:ext cx="3528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3546000"/>
            <a:ext cx="331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5C"/>
                </a:solidFill>
                <a:latin typeface="Calibri"/>
              </a:rPr>
              <a:t>Defina o 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3870000"/>
            <a:ext cx="3311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Valor fixo (R$) ou
percentual do calculado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2000" y="3456000"/>
            <a:ext cx="3528000" cy="162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92000" y="3456000"/>
            <a:ext cx="3528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0000" y="3546000"/>
            <a:ext cx="331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5C"/>
                </a:solidFill>
                <a:latin typeface="Calibri"/>
              </a:rPr>
              <a:t>Proporção sal./ind.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0000" y="3870000"/>
            <a:ext cx="3311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Salarial: incide FGTS,
INSS, IR — custo maior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52000" y="3456000"/>
            <a:ext cx="3528000" cy="162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52000" y="3456000"/>
            <a:ext cx="3528000" cy="3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0000" y="3546000"/>
            <a:ext cx="331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5C"/>
                </a:solidFill>
                <a:latin typeface="Calibri"/>
              </a:rPr>
              <a:t>Resultado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0000" y="3870000"/>
            <a:ext cx="3311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Custo total para a empresa
vs. condenação integral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5220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F93"/>
                </a:solidFill>
                <a:latin typeface="Calibri"/>
              </a:rPr>
              <a:t>Quanto maior a parcela indenizatória, menor o custo para a empresa (sem FGTS, sem INSS, sem IR).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Exportação — Excel e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9E0"/>
                </a:solidFill>
                <a:latin typeface="Calibri"/>
              </a:rPr>
              <a:t>Relatórios prontos para protocolar e provisionar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598800"/>
            <a:ext cx="1075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8E0"/>
                </a:solidFill>
                <a:latin typeface="Calibri"/>
              </a:rPr>
              <a:t>Peixoto &amp; Cury Advogados  |  LAWgico Cálculos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200" y="65988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152000"/>
            <a:ext cx="5400000" cy="414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1152000"/>
            <a:ext cx="5400000" cy="54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126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  <a:latin typeface="Calibri"/>
              </a:rPr>
              <a:t>📊 Excel (.xlsx)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162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Cabeçalho com dados do processo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16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Aba Inicial: verbas pleiteadas estimadas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270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Aba Laudo: verbas apuradas pelo perito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24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Aba Sentença: liquidação com deferidos/indeferidos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378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Quadro financeiro: bruto, líquido, encargos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32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Pronto para importar no sistema contábil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1152000"/>
            <a:ext cx="5400000" cy="414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000" y="1152000"/>
            <a:ext cx="5400000" cy="54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999" y="126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Calibri"/>
              </a:rPr>
              <a:t>📄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999" y="162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Relatório completo com identidade P&amp;C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216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Memória de cálculo por verba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999" y="270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Provisão CPC 25 detalhada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999" y="324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Quadro de encargos (FGTS, INSS, IR, SAT)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999" y="378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Simulação de acordo (se calculada)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3999" y="4320000"/>
            <a:ext cx="50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• Pronto para juntada nos autos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3200" cy="30861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3100"/>
            <a:ext cx="12193200" cy="288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90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LAWgico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5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9E0"/>
                </a:solidFill>
                <a:latin typeface="Calibri"/>
              </a:rPr>
              <a:t>cálculos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780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Controladoria Time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14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9E0"/>
                </a:solidFill>
                <a:latin typeface="Calibri"/>
              </a:rPr>
              <a:t>Peixoto &amp; Cury Advogados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608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C8E0"/>
                </a:solidFill>
                <a:latin typeface="Calibri"/>
              </a:rPr>
              <a:t>calculos-pc.streamlit.app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40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  <a:latin typeface="Calibri"/>
              </a:rPr>
              <a:t>June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