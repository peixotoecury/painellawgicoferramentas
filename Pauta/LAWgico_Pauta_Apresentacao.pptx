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419FE-0735-0518-7A88-BFA4B04B1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6725E6-36D0-6F31-00F1-C49862B6D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40B631-DDCC-2FAD-1E24-138739A3A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A736-3FF7-4D62-9742-BA5E28BF22A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0770EB-2DFD-9309-B416-2C9D9C7B5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1AEACF-3D3D-F461-0F8F-20F087287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95B7-CF66-4455-9409-BCD0E2F5A3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2765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8B8683-9C3B-5D2F-E5EC-6DB4079B9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656B0A-B618-A4E0-5EE3-A17513981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957F5A-4304-3A75-A880-00235DA0E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A736-3FF7-4D62-9742-BA5E28BF22A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A6F8DD-6580-3626-7D1F-B28AA9F30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398740-104B-DFFB-09A0-9AB887106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95B7-CF66-4455-9409-BCD0E2F5A3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158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DAE9FB-F5BE-2E5C-5796-373A2EE6E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9580DA-BE45-9E80-01AD-FB6901CB2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EAF496-B3DE-4624-7534-1509AB49A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A736-3FF7-4D62-9742-BA5E28BF22A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66ABBE-2A74-89DF-2B80-AB27E4434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6BFBC3-781E-41E2-66BE-4A14DB58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95B7-CF66-4455-9409-BCD0E2F5A3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7234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CB8A1-50E7-51A8-495E-C69FA0A60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BC7D52-03C8-AF44-19BE-361B9F3D37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D475D1-7FEB-2D3C-949A-1B13B9652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951B0-7B3A-BA70-9673-E0AC84E2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A736-3FF7-4D62-9742-BA5E28BF22A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F12246B-DAB6-D712-5879-2008E5EB9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369B04-C332-BDFB-71D7-DA34D26C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95B7-CF66-4455-9409-BCD0E2F5A3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456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65A11-5137-2C53-73FC-4E16D6F38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F2401C-F54F-B899-73C2-99682D7F1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6F248D-45F8-EF19-71AA-F9B4FD08D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1CC5B0-8123-104E-B19B-C91243281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6F0DE4-3703-76F9-79B2-92E3254A9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F091CBA-2990-ACD5-DE4E-92FCF54E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A736-3FF7-4D62-9742-BA5E28BF22A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5375390-0ADB-A5F0-D578-E62741D4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D27A20-36FA-0614-A6B6-3CD32A246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95B7-CF66-4455-9409-BCD0E2F5A3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9131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E6DE2-843B-91B7-D0B6-FD14FBE1F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11CC61A-DA1E-A991-32EC-5822DC3F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A736-3FF7-4D62-9742-BA5E28BF22A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DDF817A-0480-310E-0554-9367D1811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A6CBEF2-507D-5BB1-D246-C98B66200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95B7-CF66-4455-9409-BCD0E2F5A3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8170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B8BA916-CE12-D4A3-602F-5EDA9DFD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A736-3FF7-4D62-9742-BA5E28BF22A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997962B-C31D-257D-0DF4-0203E8F07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B96615-7E46-20B4-FEAB-81603762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95B7-CF66-4455-9409-BCD0E2F5A3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120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3725B-24BA-2213-DC09-B4B856C11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627C22-C1BA-685C-73AB-0958BD59C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04398C-D97A-FD9C-2C59-04171AFAE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DAEFCA-AC62-45C9-5CF7-10AB64D40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A736-3FF7-4D62-9742-BA5E28BF22A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F3515A-6EF7-761F-7BDE-BF061CC05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A8E315-1E99-C070-A0A3-9A7C0343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95B7-CF66-4455-9409-BCD0E2F5A3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45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71A2F-36B4-78C5-CAA4-0A2779B4C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97B81AD-D684-E53B-9CA4-A0E24BBC7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B712A0F-A5CF-56FD-5CAB-7A0F75B11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AF9556-500C-57E2-802B-082F1B148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A736-3FF7-4D62-9742-BA5E28BF22A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D59520-1297-3591-2FEE-BF22553F7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2D3D51-2E5E-1050-BA2B-8864ED3B5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95B7-CF66-4455-9409-BCD0E2F5A3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1721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7586C-0529-4442-BC51-E668196DF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DF3F4-C723-8A51-A4C5-25BF47373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319D34-DB1F-C203-0B41-638E03C48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A736-3FF7-4D62-9742-BA5E28BF22A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055DA2-BD55-4609-6086-88F08BD4E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CB3FC7-7C54-1F7B-FAB9-A3E1865CA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95B7-CF66-4455-9409-BCD0E2F5A3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51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CA1EBE2-DF64-521C-163D-8838EE1AC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46DE888-EC31-9A0B-44EC-F3C467911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15B590-2087-E11E-2EB7-92EA28C6C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A736-3FF7-4D62-9742-BA5E28BF22A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981213-6324-DA3A-44D6-E93A3EEAB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2B68D9-9177-1ACA-F2BC-44291020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95B7-CF66-4455-9409-BCD0E2F5A3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318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13B387F-4C7E-781E-8A4F-9FFEAE7AF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44A861-8282-1965-A846-C992207D1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645C94-53F5-A217-71B3-43DF88229C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0A736-3FF7-4D62-9742-BA5E28BF22A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5DEF47-A6A8-26AF-75A9-D0E0337556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47361F-34EB-C89D-2B39-95118B6B0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A95B7-CF66-4455-9409-BCD0E2F5A3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4688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DA42217-E55B-8D24-0A6F-153B9D3F3F0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B6CFEF-25EF-715B-35B4-69D6ABA06417}"/>
              </a:ext>
            </a:extLst>
          </p:cNvPr>
          <p:cNvSpPr/>
          <p:nvPr/>
        </p:nvSpPr>
        <p:spPr>
          <a:xfrm>
            <a:off x="0" y="0"/>
            <a:ext cx="127000" cy="51435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DCBB5DE-A9B7-C157-D6F1-7241C19E7FF1}"/>
              </a:ext>
            </a:extLst>
          </p:cNvPr>
          <p:cNvSpPr/>
          <p:nvPr/>
        </p:nvSpPr>
        <p:spPr>
          <a:xfrm>
            <a:off x="6578600" y="-368300"/>
            <a:ext cx="3200400" cy="3200400"/>
          </a:xfrm>
          <a:prstGeom prst="ellipse">
            <a:avLst/>
          </a:prstGeom>
          <a:solidFill>
            <a:srgbClr val="00AEEF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1DE4F8C7-5D9A-B090-BF46-F5F8A0CC85A4}"/>
              </a:ext>
            </a:extLst>
          </p:cNvPr>
          <p:cNvSpPr/>
          <p:nvPr/>
        </p:nvSpPr>
        <p:spPr>
          <a:xfrm>
            <a:off x="7315200" y="2463800"/>
            <a:ext cx="2006600" cy="2006600"/>
          </a:xfrm>
          <a:prstGeom prst="ellipse">
            <a:avLst/>
          </a:prstGeom>
          <a:solidFill>
            <a:srgbClr val="00AEEF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A1A151-2C2F-4E59-38FD-52F4D3398310}"/>
              </a:ext>
            </a:extLst>
          </p:cNvPr>
          <p:cNvSpPr txBox="1"/>
          <p:nvPr/>
        </p:nvSpPr>
        <p:spPr>
          <a:xfrm>
            <a:off x="457200" y="914400"/>
            <a:ext cx="594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5200" b="1">
                <a:solidFill>
                  <a:srgbClr val="FFFFFF"/>
                </a:solidFill>
                <a:latin typeface="Calibri" panose="020F0502020204030204" pitchFamily="34" charset="0"/>
              </a:rPr>
              <a:t>LAWgico pauta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8488AE8-AB74-06A1-B671-1CEB7CE347BB}"/>
              </a:ext>
            </a:extLst>
          </p:cNvPr>
          <p:cNvSpPr txBox="1"/>
          <p:nvPr/>
        </p:nvSpPr>
        <p:spPr>
          <a:xfrm>
            <a:off x="457200" y="2057400"/>
            <a:ext cx="822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000">
                <a:solidFill>
                  <a:srgbClr val="A0CFEA"/>
                </a:solidFill>
                <a:latin typeface="Calibri" panose="020F0502020204030204" pitchFamily="34" charset="0"/>
              </a:rPr>
              <a:t>Sistema de Gestao de Audiencias Juridicas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FBF9E21-BEFA-36C2-140E-3793A9A6A017}"/>
              </a:ext>
            </a:extLst>
          </p:cNvPr>
          <p:cNvSpPr/>
          <p:nvPr/>
        </p:nvSpPr>
        <p:spPr>
          <a:xfrm>
            <a:off x="457200" y="2730500"/>
            <a:ext cx="5029200" cy="381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010BE80-6FC6-E643-3A61-FB6C79B23B76}"/>
              </a:ext>
            </a:extLst>
          </p:cNvPr>
          <p:cNvSpPr txBox="1"/>
          <p:nvPr/>
        </p:nvSpPr>
        <p:spPr>
          <a:xfrm>
            <a:off x="457200" y="2908300"/>
            <a:ext cx="8229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>
                <a:solidFill>
                  <a:srgbClr val="4A7A99"/>
                </a:solidFill>
                <a:latin typeface="Calibri" panose="020F0502020204030204" pitchFamily="34" charset="0"/>
              </a:rPr>
              <a:t>Peixoto e Cury Advogados  |  Controladoria  |  2026</a:t>
            </a:r>
          </a:p>
        </p:txBody>
      </p:sp>
    </p:spTree>
    <p:extLst>
      <p:ext uri="{BB962C8B-B14F-4D97-AF65-F5344CB8AC3E}">
        <p14:creationId xmlns:p14="http://schemas.microsoft.com/office/powerpoint/2010/main" val="2944507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2F75FC7-3F0F-E437-9050-C11EEB88256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7054ED0-BFE9-1450-16CD-B4FBCC65184D}"/>
              </a:ext>
            </a:extLst>
          </p:cNvPr>
          <p:cNvSpPr/>
          <p:nvPr/>
        </p:nvSpPr>
        <p:spPr>
          <a:xfrm>
            <a:off x="0" y="0"/>
            <a:ext cx="9144000" cy="6223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680FD4B-9EFC-4E68-E5E0-88522B838EA6}"/>
              </a:ext>
            </a:extLst>
          </p:cNvPr>
          <p:cNvSpPr txBox="1"/>
          <p:nvPr/>
        </p:nvSpPr>
        <p:spPr>
          <a:xfrm>
            <a:off x="279400" y="50800"/>
            <a:ext cx="640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FFFFFF"/>
                </a:solidFill>
                <a:latin typeface="Calibri" panose="020F0502020204030204" pitchFamily="34" charset="0"/>
              </a:rPr>
              <a:t>O que e o LAWgico Pauta?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B76CC03-B5E0-4F91-1DFF-6EA66BA3D3E8}"/>
              </a:ext>
            </a:extLst>
          </p:cNvPr>
          <p:cNvSpPr txBox="1"/>
          <p:nvPr/>
        </p:nvSpPr>
        <p:spPr>
          <a:xfrm>
            <a:off x="368300" y="736600"/>
            <a:ext cx="840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>
                <a:solidFill>
                  <a:srgbClr val="1A2E3B"/>
                </a:solidFill>
                <a:latin typeface="Calibri" panose="020F0502020204030204" pitchFamily="34" charset="0"/>
              </a:rPr>
              <a:t>Plataforma web centralizada para controle de audiencias, pericias e designacoes de advogados - sem instalacao, acessivel de qualquer dispositivo com navegador.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8EB771E-07EA-3FA3-E7F3-0A61EB948AF8}"/>
              </a:ext>
            </a:extLst>
          </p:cNvPr>
          <p:cNvSpPr/>
          <p:nvPr/>
        </p:nvSpPr>
        <p:spPr>
          <a:xfrm>
            <a:off x="254000" y="1447800"/>
            <a:ext cx="4165600" cy="1536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852B916-7440-8C1C-92F7-D8C6834FE294}"/>
              </a:ext>
            </a:extLst>
          </p:cNvPr>
          <p:cNvSpPr/>
          <p:nvPr/>
        </p:nvSpPr>
        <p:spPr>
          <a:xfrm>
            <a:off x="254000" y="1447800"/>
            <a:ext cx="63500" cy="15367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FCDDE5D-2C91-328A-43B0-F8AF0BABE690}"/>
              </a:ext>
            </a:extLst>
          </p:cNvPr>
          <p:cNvSpPr/>
          <p:nvPr/>
        </p:nvSpPr>
        <p:spPr>
          <a:xfrm>
            <a:off x="393700" y="1574800"/>
            <a:ext cx="533400" cy="5334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76C841B-642F-301C-FE58-29B19A3C52DF}"/>
              </a:ext>
            </a:extLst>
          </p:cNvPr>
          <p:cNvSpPr txBox="1"/>
          <p:nvPr/>
        </p:nvSpPr>
        <p:spPr>
          <a:xfrm>
            <a:off x="393700" y="1574800"/>
            <a:ext cx="533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Calibri" panose="020F0502020204030204" pitchFamily="34" charset="0"/>
              </a:rPr>
              <a:t>Dash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E01D45A-9120-B310-7436-E29B4E89C79E}"/>
              </a:ext>
            </a:extLst>
          </p:cNvPr>
          <p:cNvSpPr txBox="1"/>
          <p:nvPr/>
        </p:nvSpPr>
        <p:spPr>
          <a:xfrm>
            <a:off x="1028700" y="1536700"/>
            <a:ext cx="321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 b="1">
                <a:solidFill>
                  <a:srgbClr val="003B5C"/>
                </a:solidFill>
                <a:latin typeface="Calibri" panose="020F0502020204030204" pitchFamily="34" charset="0"/>
              </a:rPr>
              <a:t>Controle de audiencias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8E5EF2C-090B-42C2-EC63-5B3BF22074F7}"/>
              </a:ext>
            </a:extLst>
          </p:cNvPr>
          <p:cNvSpPr txBox="1"/>
          <p:nvPr/>
        </p:nvSpPr>
        <p:spPr>
          <a:xfrm>
            <a:off x="1028700" y="1968500"/>
            <a:ext cx="321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57789"/>
                </a:solidFill>
                <a:latin typeface="Calibri" panose="020F0502020204030204" pitchFamily="34" charset="0"/>
              </a:rPr>
              <a:t>Organizacao completa das audiencias e compromissos processuais por grupo de trabalho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1A5582C-3C84-E6D2-4378-A5FEAF5D6440}"/>
              </a:ext>
            </a:extLst>
          </p:cNvPr>
          <p:cNvSpPr/>
          <p:nvPr/>
        </p:nvSpPr>
        <p:spPr>
          <a:xfrm>
            <a:off x="4660900" y="1447800"/>
            <a:ext cx="4165600" cy="1536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402771F-1AF3-9D79-4FA7-3B6C4516DC5E}"/>
              </a:ext>
            </a:extLst>
          </p:cNvPr>
          <p:cNvSpPr/>
          <p:nvPr/>
        </p:nvSpPr>
        <p:spPr>
          <a:xfrm>
            <a:off x="4660900" y="1447800"/>
            <a:ext cx="63500" cy="15367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17DBC16B-E66F-7A2A-C006-691A973446CB}"/>
              </a:ext>
            </a:extLst>
          </p:cNvPr>
          <p:cNvSpPr/>
          <p:nvPr/>
        </p:nvSpPr>
        <p:spPr>
          <a:xfrm>
            <a:off x="4800600" y="1574800"/>
            <a:ext cx="533400" cy="5334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1D5D0C6-733D-84C6-1A4A-A164F3134B34}"/>
              </a:ext>
            </a:extLst>
          </p:cNvPr>
          <p:cNvSpPr txBox="1"/>
          <p:nvPr/>
        </p:nvSpPr>
        <p:spPr>
          <a:xfrm>
            <a:off x="4800600" y="1574800"/>
            <a:ext cx="533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Calibri" panose="020F0502020204030204" pitchFamily="34" charset="0"/>
              </a:rPr>
              <a:t>Alvo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197FBA0-7851-27C0-EB60-4CA2901F53B1}"/>
              </a:ext>
            </a:extLst>
          </p:cNvPr>
          <p:cNvSpPr txBox="1"/>
          <p:nvPr/>
        </p:nvSpPr>
        <p:spPr>
          <a:xfrm>
            <a:off x="5435600" y="1536700"/>
            <a:ext cx="321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 b="1">
                <a:solidFill>
                  <a:srgbClr val="003B5C"/>
                </a:solidFill>
                <a:latin typeface="Calibri" panose="020F0502020204030204" pitchFamily="34" charset="0"/>
              </a:rPr>
              <a:t>Designacoes estrategicas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B88096F-7EB2-4E26-C114-C225B54FB87D}"/>
              </a:ext>
            </a:extLst>
          </p:cNvPr>
          <p:cNvSpPr txBox="1"/>
          <p:nvPr/>
        </p:nvSpPr>
        <p:spPr>
          <a:xfrm>
            <a:off x="5435600" y="1968500"/>
            <a:ext cx="321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57789"/>
                </a:solidFill>
                <a:latin typeface="Calibri" panose="020F0502020204030204" pitchFamily="34" charset="0"/>
              </a:rPr>
              <a:t>Distribuicao eficiente de advogados com rastreio completo de cada designacao realizada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8E77241-0223-2211-4DAE-B8DE56D7BA55}"/>
              </a:ext>
            </a:extLst>
          </p:cNvPr>
          <p:cNvSpPr/>
          <p:nvPr/>
        </p:nvSpPr>
        <p:spPr>
          <a:xfrm>
            <a:off x="254000" y="3111500"/>
            <a:ext cx="4165600" cy="1536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FB0BBDD-A650-80DC-5FD3-6C296996891E}"/>
              </a:ext>
            </a:extLst>
          </p:cNvPr>
          <p:cNvSpPr/>
          <p:nvPr/>
        </p:nvSpPr>
        <p:spPr>
          <a:xfrm>
            <a:off x="254000" y="3111500"/>
            <a:ext cx="63500" cy="15367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8BA55D9A-0135-83AE-B36D-1889C68886D3}"/>
              </a:ext>
            </a:extLst>
          </p:cNvPr>
          <p:cNvSpPr/>
          <p:nvPr/>
        </p:nvSpPr>
        <p:spPr>
          <a:xfrm>
            <a:off x="393700" y="3238500"/>
            <a:ext cx="533400" cy="5334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85BF35F-65C8-1666-1C44-5402E65E3145}"/>
              </a:ext>
            </a:extLst>
          </p:cNvPr>
          <p:cNvSpPr txBox="1"/>
          <p:nvPr/>
        </p:nvSpPr>
        <p:spPr>
          <a:xfrm>
            <a:off x="393700" y="3238500"/>
            <a:ext cx="533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Calibri" panose="020F0502020204030204" pitchFamily="34" charset="0"/>
              </a:rPr>
              <a:t>Alert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A257231-DA41-840E-6825-2F24940CBC65}"/>
              </a:ext>
            </a:extLst>
          </p:cNvPr>
          <p:cNvSpPr txBox="1"/>
          <p:nvPr/>
        </p:nvSpPr>
        <p:spPr>
          <a:xfrm>
            <a:off x="1028700" y="3200400"/>
            <a:ext cx="321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 b="1">
                <a:solidFill>
                  <a:srgbClr val="003B5C"/>
                </a:solidFill>
                <a:latin typeface="Calibri" panose="020F0502020204030204" pitchFamily="34" charset="0"/>
              </a:rPr>
              <a:t>Conflitos e reagendamentos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44FBCD7-0B1B-C025-1CA1-76D59A3A4CA7}"/>
              </a:ext>
            </a:extLst>
          </p:cNvPr>
          <p:cNvSpPr txBox="1"/>
          <p:nvPr/>
        </p:nvSpPr>
        <p:spPr>
          <a:xfrm>
            <a:off x="1028700" y="3632200"/>
            <a:ext cx="321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57789"/>
                </a:solidFill>
                <a:latin typeface="Calibri" panose="020F0502020204030204" pitchFamily="34" charset="0"/>
              </a:rPr>
              <a:t>Identificacao automatica de conflitos de agenda e gestao inteligente de reagendamentos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7DBF42A-973C-7675-8F42-66362823165B}"/>
              </a:ext>
            </a:extLst>
          </p:cNvPr>
          <p:cNvSpPr/>
          <p:nvPr/>
        </p:nvSpPr>
        <p:spPr>
          <a:xfrm>
            <a:off x="4660900" y="3111500"/>
            <a:ext cx="4165600" cy="1536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F81B7F2-403C-6C86-D592-8A6A5002CBE7}"/>
              </a:ext>
            </a:extLst>
          </p:cNvPr>
          <p:cNvSpPr/>
          <p:nvPr/>
        </p:nvSpPr>
        <p:spPr>
          <a:xfrm>
            <a:off x="4660900" y="3111500"/>
            <a:ext cx="63500" cy="15367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2312D833-9F71-0D7A-9F1B-188B61402904}"/>
              </a:ext>
            </a:extLst>
          </p:cNvPr>
          <p:cNvSpPr/>
          <p:nvPr/>
        </p:nvSpPr>
        <p:spPr>
          <a:xfrm>
            <a:off x="4800600" y="3238500"/>
            <a:ext cx="533400" cy="5334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203447C-3276-5824-0946-A65F418EB6C4}"/>
              </a:ext>
            </a:extLst>
          </p:cNvPr>
          <p:cNvSpPr txBox="1"/>
          <p:nvPr/>
        </p:nvSpPr>
        <p:spPr>
          <a:xfrm>
            <a:off x="4800600" y="3238500"/>
            <a:ext cx="533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Calibri" panose="020F0502020204030204" pitchFamily="34" charset="0"/>
              </a:rPr>
              <a:t>Web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FB71AD1-DBFE-EF0A-DEFD-63029B123A1C}"/>
              </a:ext>
            </a:extLst>
          </p:cNvPr>
          <p:cNvSpPr txBox="1"/>
          <p:nvPr/>
        </p:nvSpPr>
        <p:spPr>
          <a:xfrm>
            <a:off x="5435600" y="3200400"/>
            <a:ext cx="321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 b="1">
                <a:solidFill>
                  <a:srgbClr val="003B5C"/>
                </a:solidFill>
                <a:latin typeface="Calibri" panose="020F0502020204030204" pitchFamily="34" charset="0"/>
              </a:rPr>
              <a:t>Acesso de qualquer lugar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446E6EE-A06D-2073-B867-542879C371BE}"/>
              </a:ext>
            </a:extLst>
          </p:cNvPr>
          <p:cNvSpPr txBox="1"/>
          <p:nvPr/>
        </p:nvSpPr>
        <p:spPr>
          <a:xfrm>
            <a:off x="5435600" y="3632200"/>
            <a:ext cx="321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57789"/>
                </a:solidFill>
                <a:latin typeface="Calibri" panose="020F0502020204030204" pitchFamily="34" charset="0"/>
              </a:rPr>
              <a:t>Via navegador no computador ou celular, sem instalacao - acesso seguro de qualquer lugar</a:t>
            </a:r>
          </a:p>
        </p:txBody>
      </p:sp>
    </p:spTree>
    <p:extLst>
      <p:ext uri="{BB962C8B-B14F-4D97-AF65-F5344CB8AC3E}">
        <p14:creationId xmlns:p14="http://schemas.microsoft.com/office/powerpoint/2010/main" val="2983359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449315D-4EC1-4D5B-ADE9-C5B6055BED9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7A2B0AB-06E8-EBA3-E5CA-AB98220430CC}"/>
              </a:ext>
            </a:extLst>
          </p:cNvPr>
          <p:cNvSpPr/>
          <p:nvPr/>
        </p:nvSpPr>
        <p:spPr>
          <a:xfrm>
            <a:off x="0" y="0"/>
            <a:ext cx="9144000" cy="6223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A341CB7-9E61-14EB-FF07-62B158AA851B}"/>
              </a:ext>
            </a:extLst>
          </p:cNvPr>
          <p:cNvSpPr txBox="1"/>
          <p:nvPr/>
        </p:nvSpPr>
        <p:spPr>
          <a:xfrm>
            <a:off x="279400" y="50800"/>
            <a:ext cx="640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FFFFFF"/>
                </a:solidFill>
                <a:latin typeface="Calibri" panose="020F0502020204030204" pitchFamily="34" charset="0"/>
              </a:rPr>
              <a:t>Perfis de Acesso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E36D52D-F93F-94A7-3E15-A42269729D86}"/>
              </a:ext>
            </a:extLst>
          </p:cNvPr>
          <p:cNvSpPr txBox="1"/>
          <p:nvPr/>
        </p:nvSpPr>
        <p:spPr>
          <a:xfrm>
            <a:off x="368300" y="749300"/>
            <a:ext cx="840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>
                <a:solidFill>
                  <a:srgbClr val="1A2E3B"/>
                </a:solidFill>
                <a:latin typeface="Calibri" panose="020F0502020204030204" pitchFamily="34" charset="0"/>
              </a:rPr>
              <a:t>Tres niveis de acesso com permissoes bem definidas - cada usuario ve e edita apenas o que lhe compete.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10FB6D7-AE60-7D14-7BA4-A8D1AF1469E2}"/>
              </a:ext>
            </a:extLst>
          </p:cNvPr>
          <p:cNvSpPr/>
          <p:nvPr/>
        </p:nvSpPr>
        <p:spPr>
          <a:xfrm>
            <a:off x="254000" y="1295400"/>
            <a:ext cx="2743200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00D0288-FE6A-02D3-3B1C-A3BC55E7CEB8}"/>
              </a:ext>
            </a:extLst>
          </p:cNvPr>
          <p:cNvSpPr/>
          <p:nvPr/>
        </p:nvSpPr>
        <p:spPr>
          <a:xfrm>
            <a:off x="254000" y="1295400"/>
            <a:ext cx="2743200" cy="9652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B713AD2-D078-FE83-5D8E-37B5B336D3BA}"/>
              </a:ext>
            </a:extLst>
          </p:cNvPr>
          <p:cNvSpPr txBox="1"/>
          <p:nvPr/>
        </p:nvSpPr>
        <p:spPr>
          <a:xfrm>
            <a:off x="342900" y="1409700"/>
            <a:ext cx="256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2000" b="1">
                <a:solidFill>
                  <a:srgbClr val="FFFFFF"/>
                </a:solidFill>
                <a:latin typeface="Calibri" panose="020F0502020204030204" pitchFamily="34" charset="0"/>
              </a:rPr>
              <a:t>Admin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17A4B61-6162-7E85-EF44-6AEEA3F43340}"/>
              </a:ext>
            </a:extLst>
          </p:cNvPr>
          <p:cNvSpPr txBox="1"/>
          <p:nvPr/>
        </p:nvSpPr>
        <p:spPr>
          <a:xfrm>
            <a:off x="342900" y="1879600"/>
            <a:ext cx="256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 i="1">
                <a:solidFill>
                  <a:srgbClr val="FFFFFF"/>
                </a:solidFill>
                <a:latin typeface="Calibri" panose="020F0502020204030204" pitchFamily="34" charset="0"/>
              </a:rPr>
              <a:t>Acesso e controle total do sistema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AC3E6C8-D4BB-B51F-C682-7CC44F2D9D30}"/>
              </a:ext>
            </a:extLst>
          </p:cNvPr>
          <p:cNvSpPr/>
          <p:nvPr/>
        </p:nvSpPr>
        <p:spPr>
          <a:xfrm>
            <a:off x="444500" y="2336800"/>
            <a:ext cx="50800" cy="508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D8613A4-EFD7-9B8E-6548-E83DAA2665FA}"/>
              </a:ext>
            </a:extLst>
          </p:cNvPr>
          <p:cNvSpPr txBox="1"/>
          <p:nvPr/>
        </p:nvSpPr>
        <p:spPr>
          <a:xfrm>
            <a:off x="546100" y="23368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1A2E3B"/>
                </a:solidFill>
                <a:latin typeface="Calibri" panose="020F0502020204030204" pitchFamily="34" charset="0"/>
              </a:rPr>
              <a:t>Gerencia usuarios, senhas e perfis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67503BD-FCC4-A6ED-ACC0-CD4686CA173D}"/>
              </a:ext>
            </a:extLst>
          </p:cNvPr>
          <p:cNvSpPr/>
          <p:nvPr/>
        </p:nvSpPr>
        <p:spPr>
          <a:xfrm>
            <a:off x="444500" y="2921000"/>
            <a:ext cx="50800" cy="508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0BDF793-69BC-66F0-6853-701836D571B2}"/>
              </a:ext>
            </a:extLst>
          </p:cNvPr>
          <p:cNvSpPr txBox="1"/>
          <p:nvPr/>
        </p:nvSpPr>
        <p:spPr>
          <a:xfrm>
            <a:off x="546100" y="29210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1A2E3B"/>
                </a:solidFill>
                <a:latin typeface="Calibri" panose="020F0502020204030204" pitchFamily="34" charset="0"/>
              </a:rPr>
              <a:t>Visualiza e edita qualquer grupo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7E51751-ADBE-728B-AC18-629B3446D4D9}"/>
              </a:ext>
            </a:extLst>
          </p:cNvPr>
          <p:cNvSpPr/>
          <p:nvPr/>
        </p:nvSpPr>
        <p:spPr>
          <a:xfrm>
            <a:off x="444500" y="3492500"/>
            <a:ext cx="50800" cy="508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BEFB7D1-4532-953B-A8E3-016DA1FD85EA}"/>
              </a:ext>
            </a:extLst>
          </p:cNvPr>
          <p:cNvSpPr txBox="1"/>
          <p:nvPr/>
        </p:nvSpPr>
        <p:spPr>
          <a:xfrm>
            <a:off x="546100" y="34925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1A2E3B"/>
                </a:solidFill>
                <a:latin typeface="Calibri" panose="020F0502020204030204" pitchFamily="34" charset="0"/>
              </a:rPr>
              <a:t>Acessa logs de auditoria completos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57DA274-63FA-916D-7D1B-40A230FE35D8}"/>
              </a:ext>
            </a:extLst>
          </p:cNvPr>
          <p:cNvSpPr/>
          <p:nvPr/>
        </p:nvSpPr>
        <p:spPr>
          <a:xfrm>
            <a:off x="444500" y="4064000"/>
            <a:ext cx="50800" cy="508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BA23C9-ED28-4679-17EA-05F39E6EA84B}"/>
              </a:ext>
            </a:extLst>
          </p:cNvPr>
          <p:cNvSpPr txBox="1"/>
          <p:nvPr/>
        </p:nvSpPr>
        <p:spPr>
          <a:xfrm>
            <a:off x="546100" y="40640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1A2E3B"/>
                </a:solidFill>
                <a:latin typeface="Calibri" panose="020F0502020204030204" pitchFamily="34" charset="0"/>
              </a:rPr>
              <a:t>Controle total do painel administrativo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1B9D14F-5977-8D30-E4F8-3D9BABF54763}"/>
              </a:ext>
            </a:extLst>
          </p:cNvPr>
          <p:cNvSpPr/>
          <p:nvPr/>
        </p:nvSpPr>
        <p:spPr>
          <a:xfrm>
            <a:off x="3162300" y="1295400"/>
            <a:ext cx="2743200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14C6FDC-A649-FC5A-E041-8555D8820FAB}"/>
              </a:ext>
            </a:extLst>
          </p:cNvPr>
          <p:cNvSpPr/>
          <p:nvPr/>
        </p:nvSpPr>
        <p:spPr>
          <a:xfrm>
            <a:off x="3162300" y="1295400"/>
            <a:ext cx="2743200" cy="9652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9C7E696-AB7E-A1DB-7C7B-63A1A1B11E8E}"/>
              </a:ext>
            </a:extLst>
          </p:cNvPr>
          <p:cNvSpPr txBox="1"/>
          <p:nvPr/>
        </p:nvSpPr>
        <p:spPr>
          <a:xfrm>
            <a:off x="3251200" y="1409700"/>
            <a:ext cx="256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2000" b="1">
                <a:solidFill>
                  <a:srgbClr val="FFFFFF"/>
                </a:solidFill>
                <a:latin typeface="Calibri" panose="020F0502020204030204" pitchFamily="34" charset="0"/>
              </a:rPr>
              <a:t>Editor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ED801A4-473E-06A0-D661-B2157E8D2C9A}"/>
              </a:ext>
            </a:extLst>
          </p:cNvPr>
          <p:cNvSpPr txBox="1"/>
          <p:nvPr/>
        </p:nvSpPr>
        <p:spPr>
          <a:xfrm>
            <a:off x="3251200" y="1879600"/>
            <a:ext cx="256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 i="1">
                <a:solidFill>
                  <a:srgbClr val="FFFFFF"/>
                </a:solidFill>
                <a:latin typeface="Calibri" panose="020F0502020204030204" pitchFamily="34" charset="0"/>
              </a:rPr>
              <a:t>Edicao restrita ao(s) grupo(s) designado(s)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0640C6E7-5D70-9892-0F0B-4FCAF6959893}"/>
              </a:ext>
            </a:extLst>
          </p:cNvPr>
          <p:cNvSpPr/>
          <p:nvPr/>
        </p:nvSpPr>
        <p:spPr>
          <a:xfrm>
            <a:off x="3352800" y="2336800"/>
            <a:ext cx="50800" cy="5080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D25C5A7-FB73-A10F-6BD6-D7318C979613}"/>
              </a:ext>
            </a:extLst>
          </p:cNvPr>
          <p:cNvSpPr txBox="1"/>
          <p:nvPr/>
        </p:nvSpPr>
        <p:spPr>
          <a:xfrm>
            <a:off x="3454400" y="23368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1A2E3B"/>
                </a:solidFill>
                <a:latin typeface="Calibri" panose="020F0502020204030204" pitchFamily="34" charset="0"/>
              </a:rPr>
              <a:t>Edita audiencias do(s) seu(s) grupo(s)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2F62E67-9837-6B38-EEF0-CCD43E5A8BAC}"/>
              </a:ext>
            </a:extLst>
          </p:cNvPr>
          <p:cNvSpPr/>
          <p:nvPr/>
        </p:nvSpPr>
        <p:spPr>
          <a:xfrm>
            <a:off x="3352800" y="2921000"/>
            <a:ext cx="50800" cy="5080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73AC620-9734-9BAF-A1CD-EFA419CF9B23}"/>
              </a:ext>
            </a:extLst>
          </p:cNvPr>
          <p:cNvSpPr txBox="1"/>
          <p:nvPr/>
        </p:nvSpPr>
        <p:spPr>
          <a:xfrm>
            <a:off x="3454400" y="29210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1A2E3B"/>
                </a:solidFill>
                <a:latin typeface="Calibri" panose="020F0502020204030204" pitchFamily="34" charset="0"/>
              </a:rPr>
              <a:t>Designa e reatribui advogados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5D28D94-0A0D-E55F-EAEA-67D5EFE3750D}"/>
              </a:ext>
            </a:extLst>
          </p:cNvPr>
          <p:cNvSpPr/>
          <p:nvPr/>
        </p:nvSpPr>
        <p:spPr>
          <a:xfrm>
            <a:off x="3352800" y="3492500"/>
            <a:ext cx="50800" cy="5080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B8438E0-6B62-610A-5116-8EBD187419BD}"/>
              </a:ext>
            </a:extLst>
          </p:cNvPr>
          <p:cNvSpPr txBox="1"/>
          <p:nvPr/>
        </p:nvSpPr>
        <p:spPr>
          <a:xfrm>
            <a:off x="3454400" y="34925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1A2E3B"/>
                </a:solidFill>
                <a:latin typeface="Calibri" panose="020F0502020204030204" pitchFamily="34" charset="0"/>
              </a:rPr>
              <a:t>Registra pos-audiencia e pos-pericia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1C4BC98-DFFD-53DE-F47A-55AAC0A85E87}"/>
              </a:ext>
            </a:extLst>
          </p:cNvPr>
          <p:cNvSpPr/>
          <p:nvPr/>
        </p:nvSpPr>
        <p:spPr>
          <a:xfrm>
            <a:off x="3352800" y="4064000"/>
            <a:ext cx="50800" cy="5080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6D4E02F-B1CF-11C0-00FC-C32CB563C93C}"/>
              </a:ext>
            </a:extLst>
          </p:cNvPr>
          <p:cNvSpPr txBox="1"/>
          <p:nvPr/>
        </p:nvSpPr>
        <p:spPr>
          <a:xfrm>
            <a:off x="3454400" y="40640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1A2E3B"/>
                </a:solidFill>
                <a:latin typeface="Calibri" panose="020F0502020204030204" pitchFamily="34" charset="0"/>
              </a:rPr>
              <a:t>Sem acesso ao painel administrativo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848FB613-15DA-C33A-8272-21093900ADAF}"/>
              </a:ext>
            </a:extLst>
          </p:cNvPr>
          <p:cNvSpPr/>
          <p:nvPr/>
        </p:nvSpPr>
        <p:spPr>
          <a:xfrm>
            <a:off x="6070600" y="1295400"/>
            <a:ext cx="2743200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127D9A6-271D-FF02-3181-7B6FD6E83461}"/>
              </a:ext>
            </a:extLst>
          </p:cNvPr>
          <p:cNvSpPr/>
          <p:nvPr/>
        </p:nvSpPr>
        <p:spPr>
          <a:xfrm>
            <a:off x="6070600" y="1295400"/>
            <a:ext cx="2743200" cy="9652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F4A84E9-FFCC-791E-5808-6A9E26807C43}"/>
              </a:ext>
            </a:extLst>
          </p:cNvPr>
          <p:cNvSpPr txBox="1"/>
          <p:nvPr/>
        </p:nvSpPr>
        <p:spPr>
          <a:xfrm>
            <a:off x="6159500" y="1409700"/>
            <a:ext cx="256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2000" b="1">
                <a:solidFill>
                  <a:srgbClr val="FFFFFF"/>
                </a:solidFill>
                <a:latin typeface="Calibri" panose="020F0502020204030204" pitchFamily="34" charset="0"/>
              </a:rPr>
              <a:t>Visualizador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B626B7D-337F-5578-346D-C35E3058155B}"/>
              </a:ext>
            </a:extLst>
          </p:cNvPr>
          <p:cNvSpPr txBox="1"/>
          <p:nvPr/>
        </p:nvSpPr>
        <p:spPr>
          <a:xfrm>
            <a:off x="6159500" y="1879600"/>
            <a:ext cx="256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 i="1">
                <a:solidFill>
                  <a:srgbClr val="FFFFFF"/>
                </a:solidFill>
                <a:latin typeface="Calibri" panose="020F0502020204030204" pitchFamily="34" charset="0"/>
              </a:rPr>
              <a:t>Somente leitura - sem edicoes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DA80499F-12AA-AB24-E365-57D75BCCFD77}"/>
              </a:ext>
            </a:extLst>
          </p:cNvPr>
          <p:cNvSpPr/>
          <p:nvPr/>
        </p:nvSpPr>
        <p:spPr>
          <a:xfrm>
            <a:off x="6248400" y="2336800"/>
            <a:ext cx="50800" cy="508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F23C501-1B27-9C00-1E64-54262428349F}"/>
              </a:ext>
            </a:extLst>
          </p:cNvPr>
          <p:cNvSpPr txBox="1"/>
          <p:nvPr/>
        </p:nvSpPr>
        <p:spPr>
          <a:xfrm>
            <a:off x="6362700" y="23368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1A2E3B"/>
                </a:solidFill>
                <a:latin typeface="Calibri" panose="020F0502020204030204" pitchFamily="34" charset="0"/>
              </a:rPr>
              <a:t>Visualiza todas as audiencias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F109C3CC-3F3C-FB87-BB09-CB9CF12002BA}"/>
              </a:ext>
            </a:extLst>
          </p:cNvPr>
          <p:cNvSpPr/>
          <p:nvPr/>
        </p:nvSpPr>
        <p:spPr>
          <a:xfrm>
            <a:off x="6248400" y="2921000"/>
            <a:ext cx="50800" cy="508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192CAA5-4DE7-E669-7987-9062432438DC}"/>
              </a:ext>
            </a:extLst>
          </p:cNvPr>
          <p:cNvSpPr txBox="1"/>
          <p:nvPr/>
        </p:nvSpPr>
        <p:spPr>
          <a:xfrm>
            <a:off x="6362700" y="29210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1A2E3B"/>
                </a:solidFill>
                <a:latin typeface="Calibri" panose="020F0502020204030204" pitchFamily="34" charset="0"/>
              </a:rPr>
              <a:t>Acessa dashboard e indicadores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461F151C-38B1-1031-AF9F-B2DA781838B1}"/>
              </a:ext>
            </a:extLst>
          </p:cNvPr>
          <p:cNvSpPr/>
          <p:nvPr/>
        </p:nvSpPr>
        <p:spPr>
          <a:xfrm>
            <a:off x="6248400" y="3492500"/>
            <a:ext cx="50800" cy="508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C58120E-FA28-F0B3-B604-162F3F7611F8}"/>
              </a:ext>
            </a:extLst>
          </p:cNvPr>
          <p:cNvSpPr txBox="1"/>
          <p:nvPr/>
        </p:nvSpPr>
        <p:spPr>
          <a:xfrm>
            <a:off x="6362700" y="34925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1A2E3B"/>
                </a:solidFill>
                <a:latin typeface="Calibri" panose="020F0502020204030204" pitchFamily="34" charset="0"/>
              </a:rPr>
              <a:t>Consulta comarcas e responsaveis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C371037A-4436-02B0-86D7-0C93A9BECBA6}"/>
              </a:ext>
            </a:extLst>
          </p:cNvPr>
          <p:cNvSpPr/>
          <p:nvPr/>
        </p:nvSpPr>
        <p:spPr>
          <a:xfrm>
            <a:off x="6248400" y="4064000"/>
            <a:ext cx="50800" cy="508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04934179-EF7E-61B8-905D-CC162CE118D5}"/>
              </a:ext>
            </a:extLst>
          </p:cNvPr>
          <p:cNvSpPr txBox="1"/>
          <p:nvPr/>
        </p:nvSpPr>
        <p:spPr>
          <a:xfrm>
            <a:off x="6362700" y="40640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1A2E3B"/>
                </a:solidFill>
                <a:latin typeface="Calibri" panose="020F0502020204030204" pitchFamily="34" charset="0"/>
              </a:rPr>
              <a:t>Sem permissao para qualquer edicao</a:t>
            </a:r>
          </a:p>
        </p:txBody>
      </p:sp>
    </p:spTree>
    <p:extLst>
      <p:ext uri="{BB962C8B-B14F-4D97-AF65-F5344CB8AC3E}">
        <p14:creationId xmlns:p14="http://schemas.microsoft.com/office/powerpoint/2010/main" val="1091823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FC67735-944B-8E29-82A1-0A9344A6913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7B21C73-D775-BA34-F124-1BC59CD30472}"/>
              </a:ext>
            </a:extLst>
          </p:cNvPr>
          <p:cNvSpPr/>
          <p:nvPr/>
        </p:nvSpPr>
        <p:spPr>
          <a:xfrm>
            <a:off x="0" y="0"/>
            <a:ext cx="9144000" cy="6223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50DEDD4-6DFE-8CFC-A477-AB6B501EAEC2}"/>
              </a:ext>
            </a:extLst>
          </p:cNvPr>
          <p:cNvSpPr txBox="1"/>
          <p:nvPr/>
        </p:nvSpPr>
        <p:spPr>
          <a:xfrm>
            <a:off x="279400" y="50800"/>
            <a:ext cx="640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FFFFFF"/>
                </a:solidFill>
                <a:latin typeface="Calibri" panose="020F0502020204030204" pitchFamily="34" charset="0"/>
              </a:rPr>
              <a:t>Dashboard - Visao Geral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B85A4F8-7AF9-613D-1A0A-0E3CB41E39F4}"/>
              </a:ext>
            </a:extLst>
          </p:cNvPr>
          <p:cNvSpPr/>
          <p:nvPr/>
        </p:nvSpPr>
        <p:spPr>
          <a:xfrm>
            <a:off x="6946900" y="88900"/>
            <a:ext cx="2006600" cy="419100"/>
          </a:xfrm>
          <a:prstGeom prst="rect">
            <a:avLst/>
          </a:prstGeom>
          <a:solidFill>
            <a:srgbClr val="0085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5D3F34-0778-ECE1-221F-5E9EE5BEE5FB}"/>
              </a:ext>
            </a:extLst>
          </p:cNvPr>
          <p:cNvSpPr txBox="1"/>
          <p:nvPr/>
        </p:nvSpPr>
        <p:spPr>
          <a:xfrm>
            <a:off x="6946900" y="88900"/>
            <a:ext cx="2006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800">
                <a:solidFill>
                  <a:srgbClr val="FFFFFF"/>
                </a:solidFill>
                <a:latin typeface="Calibri" panose="020F0502020204030204" pitchFamily="34" charset="0"/>
              </a:rPr>
              <a:t>Dashboard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B824BEE-66CE-8EE1-6884-E04953141AC8}"/>
              </a:ext>
            </a:extLst>
          </p:cNvPr>
          <p:cNvSpPr txBox="1"/>
          <p:nvPr/>
        </p:nvSpPr>
        <p:spPr>
          <a:xfrm>
            <a:off x="368300" y="749300"/>
            <a:ext cx="840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i="1">
                <a:solidFill>
                  <a:srgbClr val="557789"/>
                </a:solidFill>
                <a:latin typeface="Calibri" panose="020F0502020204030204" pitchFamily="34" charset="0"/>
              </a:rPr>
              <a:t>Painel principal com indicadores-chave da pauta em tempo real, atualizados automaticamente.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9DD774B-086A-61DF-07CE-A55DFAA88035}"/>
              </a:ext>
            </a:extLst>
          </p:cNvPr>
          <p:cNvSpPr/>
          <p:nvPr/>
        </p:nvSpPr>
        <p:spPr>
          <a:xfrm>
            <a:off x="2540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BCC8B80-FB3B-B073-D368-D01C731C085A}"/>
              </a:ext>
            </a:extLst>
          </p:cNvPr>
          <p:cNvSpPr/>
          <p:nvPr/>
        </p:nvSpPr>
        <p:spPr>
          <a:xfrm>
            <a:off x="2540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6FE08F0-712B-B3BE-C96F-2E12F6877C22}"/>
              </a:ext>
            </a:extLst>
          </p:cNvPr>
          <p:cNvSpPr/>
          <p:nvPr/>
        </p:nvSpPr>
        <p:spPr>
          <a:xfrm>
            <a:off x="3683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5F2EB34-C960-C42B-67B4-2EDAF7D160AA}"/>
              </a:ext>
            </a:extLst>
          </p:cNvPr>
          <p:cNvSpPr txBox="1"/>
          <p:nvPr/>
        </p:nvSpPr>
        <p:spPr>
          <a:xfrm>
            <a:off x="3683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Tot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FB67901-7C2A-DB92-B33E-504332677A59}"/>
              </a:ext>
            </a:extLst>
          </p:cNvPr>
          <p:cNvSpPr txBox="1"/>
          <p:nvPr/>
        </p:nvSpPr>
        <p:spPr>
          <a:xfrm>
            <a:off x="8509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Total de audiencias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06CF85A-1374-9546-0847-A4258CC4B596}"/>
              </a:ext>
            </a:extLst>
          </p:cNvPr>
          <p:cNvSpPr txBox="1"/>
          <p:nvPr/>
        </p:nvSpPr>
        <p:spPr>
          <a:xfrm>
            <a:off x="3429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Quantidade total de audiencias na pauta ativa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F08BB59-399E-F72A-AB4F-B4D83C208388}"/>
              </a:ext>
            </a:extLst>
          </p:cNvPr>
          <p:cNvSpPr/>
          <p:nvPr/>
        </p:nvSpPr>
        <p:spPr>
          <a:xfrm>
            <a:off x="32004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1FCF42E-DA2B-8A94-9579-41250EC6E406}"/>
              </a:ext>
            </a:extLst>
          </p:cNvPr>
          <p:cNvSpPr/>
          <p:nvPr/>
        </p:nvSpPr>
        <p:spPr>
          <a:xfrm>
            <a:off x="32004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7236FFA1-BC53-E6AC-DBF8-33D4B3BD67F9}"/>
              </a:ext>
            </a:extLst>
          </p:cNvPr>
          <p:cNvSpPr/>
          <p:nvPr/>
        </p:nvSpPr>
        <p:spPr>
          <a:xfrm>
            <a:off x="33147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124712B-ED9F-1ADD-708A-01F35DFFF305}"/>
              </a:ext>
            </a:extLst>
          </p:cNvPr>
          <p:cNvSpPr txBox="1"/>
          <p:nvPr/>
        </p:nvSpPr>
        <p:spPr>
          <a:xfrm>
            <a:off x="33147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OK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D6E8DEE-12FC-BD2A-0041-D1E596E85BEB}"/>
              </a:ext>
            </a:extLst>
          </p:cNvPr>
          <p:cNvSpPr txBox="1"/>
          <p:nvPr/>
        </p:nvSpPr>
        <p:spPr>
          <a:xfrm>
            <a:off x="37973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Designadas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53B689E-5207-3D1C-2E83-E9425110431A}"/>
              </a:ext>
            </a:extLst>
          </p:cNvPr>
          <p:cNvSpPr txBox="1"/>
          <p:nvPr/>
        </p:nvSpPr>
        <p:spPr>
          <a:xfrm>
            <a:off x="32893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Audiencias com advogado ja designado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8761402-674C-78E1-AF31-EE5534F8A2F2}"/>
              </a:ext>
            </a:extLst>
          </p:cNvPr>
          <p:cNvSpPr/>
          <p:nvPr/>
        </p:nvSpPr>
        <p:spPr>
          <a:xfrm>
            <a:off x="61468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FF72A11-65F9-5878-7E8D-5079D74DEAF9}"/>
              </a:ext>
            </a:extLst>
          </p:cNvPr>
          <p:cNvSpPr/>
          <p:nvPr/>
        </p:nvSpPr>
        <p:spPr>
          <a:xfrm>
            <a:off x="61468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6BBDD320-977A-BA63-DF3B-5E5739BCBCB0}"/>
              </a:ext>
            </a:extLst>
          </p:cNvPr>
          <p:cNvSpPr/>
          <p:nvPr/>
        </p:nvSpPr>
        <p:spPr>
          <a:xfrm>
            <a:off x="62484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3F5A00B-A82B-69E8-5C4E-907CEE5A0883}"/>
              </a:ext>
            </a:extLst>
          </p:cNvPr>
          <p:cNvSpPr txBox="1"/>
          <p:nvPr/>
        </p:nvSpPr>
        <p:spPr>
          <a:xfrm>
            <a:off x="62484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!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66E241D-A7FA-1B5C-BC4A-72F5C72EB175}"/>
              </a:ext>
            </a:extLst>
          </p:cNvPr>
          <p:cNvSpPr txBox="1"/>
          <p:nvPr/>
        </p:nvSpPr>
        <p:spPr>
          <a:xfrm>
            <a:off x="67437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Pendentes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12C67BC-604D-2102-C8EF-675CA94BD5CC}"/>
              </a:ext>
            </a:extLst>
          </p:cNvPr>
          <p:cNvSpPr txBox="1"/>
          <p:nvPr/>
        </p:nvSpPr>
        <p:spPr>
          <a:xfrm>
            <a:off x="62357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Audiencias aguardando indicacao de responsavel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BB15050-2266-74F4-87AF-3293372F8F56}"/>
              </a:ext>
            </a:extLst>
          </p:cNvPr>
          <p:cNvSpPr/>
          <p:nvPr/>
        </p:nvSpPr>
        <p:spPr>
          <a:xfrm>
            <a:off x="2540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1F126859-16E5-99D9-9808-CE9C8A64F055}"/>
              </a:ext>
            </a:extLst>
          </p:cNvPr>
          <p:cNvSpPr/>
          <p:nvPr/>
        </p:nvSpPr>
        <p:spPr>
          <a:xfrm>
            <a:off x="2540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09645CF9-5DCC-D4C7-6022-A84E4D70041A}"/>
              </a:ext>
            </a:extLst>
          </p:cNvPr>
          <p:cNvSpPr/>
          <p:nvPr/>
        </p:nvSpPr>
        <p:spPr>
          <a:xfrm>
            <a:off x="3683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F2E5D5C-27A9-2AB4-C464-C6D03E8B9293}"/>
              </a:ext>
            </a:extLst>
          </p:cNvPr>
          <p:cNvSpPr txBox="1"/>
          <p:nvPr/>
        </p:nvSpPr>
        <p:spPr>
          <a:xfrm>
            <a:off x="3683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Map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A189E53-90D7-9BED-65C0-3D311DBD947A}"/>
              </a:ext>
            </a:extLst>
          </p:cNvPr>
          <p:cNvSpPr txBox="1"/>
          <p:nvPr/>
        </p:nvSpPr>
        <p:spPr>
          <a:xfrm>
            <a:off x="8509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Por comarca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81C44E1-C609-24EA-88A6-AF9B4C390629}"/>
              </a:ext>
            </a:extLst>
          </p:cNvPr>
          <p:cNvSpPr txBox="1"/>
          <p:nvPr/>
        </p:nvSpPr>
        <p:spPr>
          <a:xfrm>
            <a:off x="3429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Distribuicao geografica das audiencias cadastradas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E7ADF93-8C7C-51C1-7F1C-DF88DC01C2E4}"/>
              </a:ext>
            </a:extLst>
          </p:cNvPr>
          <p:cNvSpPr/>
          <p:nvPr/>
        </p:nvSpPr>
        <p:spPr>
          <a:xfrm>
            <a:off x="32004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7DA96B5-9DF8-21E8-1D2C-59B4D8DEEEF1}"/>
              </a:ext>
            </a:extLst>
          </p:cNvPr>
          <p:cNvSpPr/>
          <p:nvPr/>
        </p:nvSpPr>
        <p:spPr>
          <a:xfrm>
            <a:off x="32004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0700FB42-4C24-5C07-AE5D-BF39B33F4EDA}"/>
              </a:ext>
            </a:extLst>
          </p:cNvPr>
          <p:cNvSpPr/>
          <p:nvPr/>
        </p:nvSpPr>
        <p:spPr>
          <a:xfrm>
            <a:off x="33147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1F7210BD-D328-A110-F83B-DA814C69BE20}"/>
              </a:ext>
            </a:extLst>
          </p:cNvPr>
          <p:cNvSpPr txBox="1"/>
          <p:nvPr/>
        </p:nvSpPr>
        <p:spPr>
          <a:xfrm>
            <a:off x="33147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Cal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AB11914-0466-9F23-CF7E-5F5D716E4D18}"/>
              </a:ext>
            </a:extLst>
          </p:cNvPr>
          <p:cNvSpPr txBox="1"/>
          <p:nvPr/>
        </p:nvSpPr>
        <p:spPr>
          <a:xfrm>
            <a:off x="37973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Por dia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3438EB9-32C1-7055-71F4-F306DAD7EE96}"/>
              </a:ext>
            </a:extLst>
          </p:cNvPr>
          <p:cNvSpPr txBox="1"/>
          <p:nvPr/>
        </p:nvSpPr>
        <p:spPr>
          <a:xfrm>
            <a:off x="32893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Agrupamento cronologico para planejamento da semana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EEFF5759-8ED2-EC37-76D5-87A504C62001}"/>
              </a:ext>
            </a:extLst>
          </p:cNvPr>
          <p:cNvSpPr/>
          <p:nvPr/>
        </p:nvSpPr>
        <p:spPr>
          <a:xfrm>
            <a:off x="61468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728BB070-393D-C427-10B1-9EF498304FA9}"/>
              </a:ext>
            </a:extLst>
          </p:cNvPr>
          <p:cNvSpPr/>
          <p:nvPr/>
        </p:nvSpPr>
        <p:spPr>
          <a:xfrm>
            <a:off x="61468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FAB20A3C-1A84-0710-785C-2109E652EC07}"/>
              </a:ext>
            </a:extLst>
          </p:cNvPr>
          <p:cNvSpPr/>
          <p:nvPr/>
        </p:nvSpPr>
        <p:spPr>
          <a:xfrm>
            <a:off x="62484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DD6472C6-6C74-1327-1297-4CADC5529165}"/>
              </a:ext>
            </a:extLst>
          </p:cNvPr>
          <p:cNvSpPr txBox="1"/>
          <p:nvPr/>
        </p:nvSpPr>
        <p:spPr>
          <a:xfrm>
            <a:off x="62484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Grp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31A712DC-54EF-546C-9C4C-AD9423B409EF}"/>
              </a:ext>
            </a:extLst>
          </p:cNvPr>
          <p:cNvSpPr txBox="1"/>
          <p:nvPr/>
        </p:nvSpPr>
        <p:spPr>
          <a:xfrm>
            <a:off x="67437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Por grupo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2D48779-AB6A-137A-276F-CAC8AC448D0B}"/>
              </a:ext>
            </a:extLst>
          </p:cNvPr>
          <p:cNvSpPr txBox="1"/>
          <p:nvPr/>
        </p:nvSpPr>
        <p:spPr>
          <a:xfrm>
            <a:off x="62357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Visao segmentada por equipe de trabalho (A1, B1, E2...)</a:t>
            </a:r>
          </a:p>
        </p:txBody>
      </p:sp>
    </p:spTree>
    <p:extLst>
      <p:ext uri="{BB962C8B-B14F-4D97-AF65-F5344CB8AC3E}">
        <p14:creationId xmlns:p14="http://schemas.microsoft.com/office/powerpoint/2010/main" val="2012311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DEBC244-5021-7388-89A8-1BBDC9BE11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8285BA9-0902-19E4-3036-D5059E22429F}"/>
              </a:ext>
            </a:extLst>
          </p:cNvPr>
          <p:cNvSpPr/>
          <p:nvPr/>
        </p:nvSpPr>
        <p:spPr>
          <a:xfrm>
            <a:off x="0" y="0"/>
            <a:ext cx="9144000" cy="6223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23BEB8A-3C1F-50BC-4EBA-0A719A8C47D6}"/>
              </a:ext>
            </a:extLst>
          </p:cNvPr>
          <p:cNvSpPr txBox="1"/>
          <p:nvPr/>
        </p:nvSpPr>
        <p:spPr>
          <a:xfrm>
            <a:off x="279400" y="50800"/>
            <a:ext cx="640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FFFFFF"/>
                </a:solidFill>
                <a:latin typeface="Calibri" panose="020F0502020204030204" pitchFamily="34" charset="0"/>
              </a:rPr>
              <a:t>Pauta Completa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D23DFBB-E102-21C1-20FC-F5AEBD578799}"/>
              </a:ext>
            </a:extLst>
          </p:cNvPr>
          <p:cNvSpPr/>
          <p:nvPr/>
        </p:nvSpPr>
        <p:spPr>
          <a:xfrm>
            <a:off x="6946900" y="88900"/>
            <a:ext cx="2006600" cy="419100"/>
          </a:xfrm>
          <a:prstGeom prst="rect">
            <a:avLst/>
          </a:prstGeom>
          <a:solidFill>
            <a:srgbClr val="0085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B891A3A-9767-E2EC-2755-0B14DA8E3BAB}"/>
              </a:ext>
            </a:extLst>
          </p:cNvPr>
          <p:cNvSpPr txBox="1"/>
          <p:nvPr/>
        </p:nvSpPr>
        <p:spPr>
          <a:xfrm>
            <a:off x="6946900" y="88900"/>
            <a:ext cx="2006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800">
                <a:solidFill>
                  <a:srgbClr val="FFFFFF"/>
                </a:solidFill>
                <a:latin typeface="Calibri" panose="020F0502020204030204" pitchFamily="34" charset="0"/>
              </a:rPr>
              <a:t>Pauta Completa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B37CFDB-DF65-D0EC-817D-544B1AC49EC5}"/>
              </a:ext>
            </a:extLst>
          </p:cNvPr>
          <p:cNvSpPr txBox="1"/>
          <p:nvPr/>
        </p:nvSpPr>
        <p:spPr>
          <a:xfrm>
            <a:off x="368300" y="749300"/>
            <a:ext cx="840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i="1">
                <a:solidFill>
                  <a:srgbClr val="557789"/>
                </a:solidFill>
                <a:latin typeface="Calibri" panose="020F0502020204030204" pitchFamily="34" charset="0"/>
              </a:rPr>
              <a:t>Listagem integral de todas as audiencias com filtros avancados e importacao via Excel.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3392F76-6759-E898-792B-35451C8E686B}"/>
              </a:ext>
            </a:extLst>
          </p:cNvPr>
          <p:cNvSpPr/>
          <p:nvPr/>
        </p:nvSpPr>
        <p:spPr>
          <a:xfrm>
            <a:off x="2540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C638DAA-D5BF-73BC-2708-8207FD647899}"/>
              </a:ext>
            </a:extLst>
          </p:cNvPr>
          <p:cNvSpPr/>
          <p:nvPr/>
        </p:nvSpPr>
        <p:spPr>
          <a:xfrm>
            <a:off x="2540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4643F28-65DC-4E95-FBDD-25F491907C46}"/>
              </a:ext>
            </a:extLst>
          </p:cNvPr>
          <p:cNvSpPr/>
          <p:nvPr/>
        </p:nvSpPr>
        <p:spPr>
          <a:xfrm>
            <a:off x="3683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689781A-0503-9FA8-80DB-5766588372B4}"/>
              </a:ext>
            </a:extLst>
          </p:cNvPr>
          <p:cNvSpPr txBox="1"/>
          <p:nvPr/>
        </p:nvSpPr>
        <p:spPr>
          <a:xfrm>
            <a:off x="3683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Fil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FFE0A6-023A-C83E-08B6-872DF8A87B03}"/>
              </a:ext>
            </a:extLst>
          </p:cNvPr>
          <p:cNvSpPr txBox="1"/>
          <p:nvPr/>
        </p:nvSpPr>
        <p:spPr>
          <a:xfrm>
            <a:off x="8509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Filtros avancados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FD4EA45-5518-B593-46BD-53C5BE436730}"/>
              </a:ext>
            </a:extLst>
          </p:cNvPr>
          <p:cNvSpPr txBox="1"/>
          <p:nvPr/>
        </p:nvSpPr>
        <p:spPr>
          <a:xfrm>
            <a:off x="3429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Filtre por grupo, status, data, comarca e vara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6AB77D7-FC9E-694E-9901-8765A80829B4}"/>
              </a:ext>
            </a:extLst>
          </p:cNvPr>
          <p:cNvSpPr/>
          <p:nvPr/>
        </p:nvSpPr>
        <p:spPr>
          <a:xfrm>
            <a:off x="32004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01ABB6D-ED2C-5A65-9095-1110F9E8E3DA}"/>
              </a:ext>
            </a:extLst>
          </p:cNvPr>
          <p:cNvSpPr/>
          <p:nvPr/>
        </p:nvSpPr>
        <p:spPr>
          <a:xfrm>
            <a:off x="32004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71A5B011-6F1B-6E8A-D3B6-709D540AFC0A}"/>
              </a:ext>
            </a:extLst>
          </p:cNvPr>
          <p:cNvSpPr/>
          <p:nvPr/>
        </p:nvSpPr>
        <p:spPr>
          <a:xfrm>
            <a:off x="33147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FA73FBE-2E75-8F64-3BBB-DAC2D551EE0C}"/>
              </a:ext>
            </a:extLst>
          </p:cNvPr>
          <p:cNvSpPr txBox="1"/>
          <p:nvPr/>
        </p:nvSpPr>
        <p:spPr>
          <a:xfrm>
            <a:off x="33147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Up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297D20E-01BA-9350-228B-453182A28062}"/>
              </a:ext>
            </a:extLst>
          </p:cNvPr>
          <p:cNvSpPr txBox="1"/>
          <p:nvPr/>
        </p:nvSpPr>
        <p:spPr>
          <a:xfrm>
            <a:off x="37973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Upload de planilha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BB0C242-A892-7130-29F1-E5A11E04D00B}"/>
              </a:ext>
            </a:extLst>
          </p:cNvPr>
          <p:cNvSpPr txBox="1"/>
          <p:nvPr/>
        </p:nvSpPr>
        <p:spPr>
          <a:xfrm>
            <a:off x="32893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Importacao de audiencias via arquivo Excel (.xlsx)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CFF087B-D43F-1627-DB9D-B9B8EF18B512}"/>
              </a:ext>
            </a:extLst>
          </p:cNvPr>
          <p:cNvSpPr/>
          <p:nvPr/>
        </p:nvSpPr>
        <p:spPr>
          <a:xfrm>
            <a:off x="61468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967B76A-991F-EFF3-05E7-E2916881CA58}"/>
              </a:ext>
            </a:extLst>
          </p:cNvPr>
          <p:cNvSpPr/>
          <p:nvPr/>
        </p:nvSpPr>
        <p:spPr>
          <a:xfrm>
            <a:off x="61468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5E793C0-DA23-663C-F657-A2FA584C2806}"/>
              </a:ext>
            </a:extLst>
          </p:cNvPr>
          <p:cNvSpPr/>
          <p:nvPr/>
        </p:nvSpPr>
        <p:spPr>
          <a:xfrm>
            <a:off x="62484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1CFDA79-51B1-B570-10EC-CAEF851FE4D1}"/>
              </a:ext>
            </a:extLst>
          </p:cNvPr>
          <p:cNvSpPr txBox="1"/>
          <p:nvPr/>
        </p:nvSpPr>
        <p:spPr>
          <a:xfrm>
            <a:off x="62484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Ed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76F91C5-48B8-19B2-3DD7-E3457DCC400C}"/>
              </a:ext>
            </a:extLst>
          </p:cNvPr>
          <p:cNvSpPr txBox="1"/>
          <p:nvPr/>
        </p:nvSpPr>
        <p:spPr>
          <a:xfrm>
            <a:off x="67437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Edicao inline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5E9E11B-D3DC-07BB-38FA-42A35F3BAEC4}"/>
              </a:ext>
            </a:extLst>
          </p:cNvPr>
          <p:cNvSpPr txBox="1"/>
          <p:nvPr/>
        </p:nvSpPr>
        <p:spPr>
          <a:xfrm>
            <a:off x="62357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Edicao direta de designacoes sem sair da tela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594F45EF-7306-BFA2-2650-CD3B598D2224}"/>
              </a:ext>
            </a:extLst>
          </p:cNvPr>
          <p:cNvSpPr/>
          <p:nvPr/>
        </p:nvSpPr>
        <p:spPr>
          <a:xfrm>
            <a:off x="2540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3FAE4C4-353B-2280-FF95-588FBF86CC14}"/>
              </a:ext>
            </a:extLst>
          </p:cNvPr>
          <p:cNvSpPr/>
          <p:nvPr/>
        </p:nvSpPr>
        <p:spPr>
          <a:xfrm>
            <a:off x="2540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1891FCFE-1A9C-27A6-250B-1B2EABF9E3E0}"/>
              </a:ext>
            </a:extLst>
          </p:cNvPr>
          <p:cNvSpPr/>
          <p:nvPr/>
        </p:nvSpPr>
        <p:spPr>
          <a:xfrm>
            <a:off x="3683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46A512F-3C2B-A5BB-8581-BD25792AF9FF}"/>
              </a:ext>
            </a:extLst>
          </p:cNvPr>
          <p:cNvSpPr txBox="1"/>
          <p:nvPr/>
        </p:nvSpPr>
        <p:spPr>
          <a:xfrm>
            <a:off x="3683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Lk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9843504-E7E9-7AF2-B1A7-B8061D3294FC}"/>
              </a:ext>
            </a:extLst>
          </p:cNvPr>
          <p:cNvSpPr txBox="1"/>
          <p:nvPr/>
        </p:nvSpPr>
        <p:spPr>
          <a:xfrm>
            <a:off x="8509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Protecao de dados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BD0A963-E35A-5B33-B4BC-B8BE3F35B9D4}"/>
              </a:ext>
            </a:extLst>
          </p:cNvPr>
          <p:cNvSpPr txBox="1"/>
          <p:nvPr/>
        </p:nvSpPr>
        <p:spPr>
          <a:xfrm>
            <a:off x="3429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Designacoes manuais recentes protegidas contra sobrescrita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9CFD825-5F88-D94C-9CEA-66E601636428}"/>
              </a:ext>
            </a:extLst>
          </p:cNvPr>
          <p:cNvSpPr/>
          <p:nvPr/>
        </p:nvSpPr>
        <p:spPr>
          <a:xfrm>
            <a:off x="32004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EDE339EB-0041-F7BB-1E7A-9E163987CE07}"/>
              </a:ext>
            </a:extLst>
          </p:cNvPr>
          <p:cNvSpPr/>
          <p:nvPr/>
        </p:nvSpPr>
        <p:spPr>
          <a:xfrm>
            <a:off x="32004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62C77108-C0D6-5400-3920-CC49A3430245}"/>
              </a:ext>
            </a:extLst>
          </p:cNvPr>
          <p:cNvSpPr/>
          <p:nvPr/>
        </p:nvSpPr>
        <p:spPr>
          <a:xfrm>
            <a:off x="33147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0B358EC-3DEB-9392-2890-7C568CF662DB}"/>
              </a:ext>
            </a:extLst>
          </p:cNvPr>
          <p:cNvSpPr txBox="1"/>
          <p:nvPr/>
        </p:nvSpPr>
        <p:spPr>
          <a:xfrm>
            <a:off x="33147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Exp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675D1D6-708A-4DDD-27D9-EF5BE6F287FB}"/>
              </a:ext>
            </a:extLst>
          </p:cNvPr>
          <p:cNvSpPr txBox="1"/>
          <p:nvPr/>
        </p:nvSpPr>
        <p:spPr>
          <a:xfrm>
            <a:off x="37973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Exportacao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C1A72F2-4757-FDBD-68C8-C018C0510C29}"/>
              </a:ext>
            </a:extLst>
          </p:cNvPr>
          <p:cNvSpPr txBox="1"/>
          <p:nvPr/>
        </p:nvSpPr>
        <p:spPr>
          <a:xfrm>
            <a:off x="32893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Exportacao dos dados filtrados em planilha Excel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8A105FB9-8CFC-BB36-712A-F47AACAFC9BC}"/>
              </a:ext>
            </a:extLst>
          </p:cNvPr>
          <p:cNvSpPr/>
          <p:nvPr/>
        </p:nvSpPr>
        <p:spPr>
          <a:xfrm>
            <a:off x="61468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316BD5B2-9A91-3726-C7B7-56ED4997B4E7}"/>
              </a:ext>
            </a:extLst>
          </p:cNvPr>
          <p:cNvSpPr/>
          <p:nvPr/>
        </p:nvSpPr>
        <p:spPr>
          <a:xfrm>
            <a:off x="61468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4C36F06F-6EDC-77EA-A274-D13E79929B85}"/>
              </a:ext>
            </a:extLst>
          </p:cNvPr>
          <p:cNvSpPr/>
          <p:nvPr/>
        </p:nvSpPr>
        <p:spPr>
          <a:xfrm>
            <a:off x="62484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F5935224-80A0-D4D1-021C-59ED565CE020}"/>
              </a:ext>
            </a:extLst>
          </p:cNvPr>
          <p:cNvSpPr txBox="1"/>
          <p:nvPr/>
        </p:nvSpPr>
        <p:spPr>
          <a:xfrm>
            <a:off x="62484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Grp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4159277-A0FF-6F48-DF96-A1AD0BBABC5D}"/>
              </a:ext>
            </a:extLst>
          </p:cNvPr>
          <p:cNvSpPr txBox="1"/>
          <p:nvPr/>
        </p:nvSpPr>
        <p:spPr>
          <a:xfrm>
            <a:off x="67437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Visao por grupo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2C4E4B9B-B80B-AE3F-A085-58D57026B472}"/>
              </a:ext>
            </a:extLst>
          </p:cNvPr>
          <p:cNvSpPr txBox="1"/>
          <p:nvPr/>
        </p:nvSpPr>
        <p:spPr>
          <a:xfrm>
            <a:off x="62357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Cada editor visualiza somente o(s) seu(s) grupo(s)</a:t>
            </a:r>
          </a:p>
        </p:txBody>
      </p:sp>
    </p:spTree>
    <p:extLst>
      <p:ext uri="{BB962C8B-B14F-4D97-AF65-F5344CB8AC3E}">
        <p14:creationId xmlns:p14="http://schemas.microsoft.com/office/powerpoint/2010/main" val="4243924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5001A81-F611-6012-6283-2FCD8398229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D87F366-F5B9-1018-2665-84B7015D449D}"/>
              </a:ext>
            </a:extLst>
          </p:cNvPr>
          <p:cNvSpPr/>
          <p:nvPr/>
        </p:nvSpPr>
        <p:spPr>
          <a:xfrm>
            <a:off x="0" y="0"/>
            <a:ext cx="9144000" cy="6223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E6706C4-D1E1-E3CA-7E60-8C78F8AD6004}"/>
              </a:ext>
            </a:extLst>
          </p:cNvPr>
          <p:cNvSpPr txBox="1"/>
          <p:nvPr/>
        </p:nvSpPr>
        <p:spPr>
          <a:xfrm>
            <a:off x="279400" y="50800"/>
            <a:ext cx="640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FFFFFF"/>
                </a:solidFill>
                <a:latin typeface="Calibri" panose="020F0502020204030204" pitchFamily="34" charset="0"/>
              </a:rPr>
              <a:t>Deteccao de Conflitos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8002173-5665-2E46-3475-48100ADF5A8D}"/>
              </a:ext>
            </a:extLst>
          </p:cNvPr>
          <p:cNvSpPr/>
          <p:nvPr/>
        </p:nvSpPr>
        <p:spPr>
          <a:xfrm>
            <a:off x="6946900" y="88900"/>
            <a:ext cx="2006600" cy="419100"/>
          </a:xfrm>
          <a:prstGeom prst="rect">
            <a:avLst/>
          </a:prstGeom>
          <a:solidFill>
            <a:srgbClr val="0085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159613-A297-FB11-D285-2301F58504C7}"/>
              </a:ext>
            </a:extLst>
          </p:cNvPr>
          <p:cNvSpPr txBox="1"/>
          <p:nvPr/>
        </p:nvSpPr>
        <p:spPr>
          <a:xfrm>
            <a:off x="6946900" y="88900"/>
            <a:ext cx="2006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800">
                <a:solidFill>
                  <a:srgbClr val="FFFFFF"/>
                </a:solidFill>
                <a:latin typeface="Calibri" panose="020F0502020204030204" pitchFamily="34" charset="0"/>
              </a:rPr>
              <a:t>Conflitos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C3096EC-99F2-5382-F578-1CCC541AD5EE}"/>
              </a:ext>
            </a:extLst>
          </p:cNvPr>
          <p:cNvSpPr txBox="1"/>
          <p:nvPr/>
        </p:nvSpPr>
        <p:spPr>
          <a:xfrm>
            <a:off x="368300" y="749300"/>
            <a:ext cx="840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i="1">
                <a:solidFill>
                  <a:srgbClr val="557789"/>
                </a:solidFill>
                <a:latin typeface="Calibri" panose="020F0502020204030204" pitchFamily="34" charset="0"/>
              </a:rPr>
              <a:t>Identificacao automatica de conflitos de agenda entre advogados na mesma data e horario.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D50B939-C000-C572-804F-83FC70A5E871}"/>
              </a:ext>
            </a:extLst>
          </p:cNvPr>
          <p:cNvSpPr/>
          <p:nvPr/>
        </p:nvSpPr>
        <p:spPr>
          <a:xfrm>
            <a:off x="2540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3FB27E3-745D-5643-6690-12BECCA10D7B}"/>
              </a:ext>
            </a:extLst>
          </p:cNvPr>
          <p:cNvSpPr/>
          <p:nvPr/>
        </p:nvSpPr>
        <p:spPr>
          <a:xfrm>
            <a:off x="2540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C886294-E598-C047-0C74-648003B565A5}"/>
              </a:ext>
            </a:extLst>
          </p:cNvPr>
          <p:cNvSpPr/>
          <p:nvPr/>
        </p:nvSpPr>
        <p:spPr>
          <a:xfrm>
            <a:off x="3683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D82DEEF-689E-8623-1BA9-682F48A99102}"/>
              </a:ext>
            </a:extLst>
          </p:cNvPr>
          <p:cNvSpPr txBox="1"/>
          <p:nvPr/>
        </p:nvSpPr>
        <p:spPr>
          <a:xfrm>
            <a:off x="3683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Aut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E35DEA4-9308-960E-87C2-CFFF9D01818A}"/>
              </a:ext>
            </a:extLst>
          </p:cNvPr>
          <p:cNvSpPr txBox="1"/>
          <p:nvPr/>
        </p:nvSpPr>
        <p:spPr>
          <a:xfrm>
            <a:off x="8509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Deteccao automatica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578D4E3-CA20-6E6B-6636-1C48FDE9033C}"/>
              </a:ext>
            </a:extLst>
          </p:cNvPr>
          <p:cNvSpPr txBox="1"/>
          <p:nvPr/>
        </p:nvSpPr>
        <p:spPr>
          <a:xfrm>
            <a:off x="3429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O sistema identifica conflitos sem intervencao manual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1A234EC-0774-14BB-64F8-B7DA5214D4F3}"/>
              </a:ext>
            </a:extLst>
          </p:cNvPr>
          <p:cNvSpPr/>
          <p:nvPr/>
        </p:nvSpPr>
        <p:spPr>
          <a:xfrm>
            <a:off x="32004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E033204-C13A-6173-CABB-FA5A66B38AA6}"/>
              </a:ext>
            </a:extLst>
          </p:cNvPr>
          <p:cNvSpPr/>
          <p:nvPr/>
        </p:nvSpPr>
        <p:spPr>
          <a:xfrm>
            <a:off x="32004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6DFAAE3-77F0-8861-3271-533E4410701E}"/>
              </a:ext>
            </a:extLst>
          </p:cNvPr>
          <p:cNvSpPr/>
          <p:nvPr/>
        </p:nvSpPr>
        <p:spPr>
          <a:xfrm>
            <a:off x="33147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D1156E9-6907-3B68-F9B8-653C3891A48F}"/>
              </a:ext>
            </a:extLst>
          </p:cNvPr>
          <p:cNvSpPr txBox="1"/>
          <p:nvPr/>
        </p:nvSpPr>
        <p:spPr>
          <a:xfrm>
            <a:off x="33147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Al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F253FFA-C51D-18ED-6A21-C8CF908DF467}"/>
              </a:ext>
            </a:extLst>
          </p:cNvPr>
          <p:cNvSpPr txBox="1"/>
          <p:nvPr/>
        </p:nvSpPr>
        <p:spPr>
          <a:xfrm>
            <a:off x="37973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Alertas visuais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FD42FA1-B39A-E98F-0C8C-0A88306FC000}"/>
              </a:ext>
            </a:extLst>
          </p:cNvPr>
          <p:cNvSpPr txBox="1"/>
          <p:nvPr/>
        </p:nvSpPr>
        <p:spPr>
          <a:xfrm>
            <a:off x="32893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Badges de alerta na navegacao indicam conflitos pendentes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72EF47D-1090-0839-3416-0D265E7ECE97}"/>
              </a:ext>
            </a:extLst>
          </p:cNvPr>
          <p:cNvSpPr/>
          <p:nvPr/>
        </p:nvSpPr>
        <p:spPr>
          <a:xfrm>
            <a:off x="61468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564DF0C-F565-64DF-380E-25AC87A42860}"/>
              </a:ext>
            </a:extLst>
          </p:cNvPr>
          <p:cNvSpPr/>
          <p:nvPr/>
        </p:nvSpPr>
        <p:spPr>
          <a:xfrm>
            <a:off x="61468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FFB4BFD-9E78-AE3E-6783-9EB3ED7529E9}"/>
              </a:ext>
            </a:extLst>
          </p:cNvPr>
          <p:cNvSpPr/>
          <p:nvPr/>
        </p:nvSpPr>
        <p:spPr>
          <a:xfrm>
            <a:off x="62484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DA767FC-D2DF-3B64-5718-B5EC37D350C2}"/>
              </a:ext>
            </a:extLst>
          </p:cNvPr>
          <p:cNvSpPr txBox="1"/>
          <p:nvPr/>
        </p:nvSpPr>
        <p:spPr>
          <a:xfrm>
            <a:off x="62484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Det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FC72371-A940-1C6B-1D55-41070C0C732C}"/>
              </a:ext>
            </a:extLst>
          </p:cNvPr>
          <p:cNvSpPr txBox="1"/>
          <p:nvPr/>
        </p:nvSpPr>
        <p:spPr>
          <a:xfrm>
            <a:off x="67437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Detalhamento completo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C59DF16-4C08-877B-FBD5-C3F4B4E186B2}"/>
              </a:ext>
            </a:extLst>
          </p:cNvPr>
          <p:cNvSpPr txBox="1"/>
          <p:nvPr/>
        </p:nvSpPr>
        <p:spPr>
          <a:xfrm>
            <a:off x="62357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Lista processos em conflito com data, vara e advogado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E5830CA-E2BB-0BA3-82B0-3F75EEFB8B23}"/>
              </a:ext>
            </a:extLst>
          </p:cNvPr>
          <p:cNvSpPr/>
          <p:nvPr/>
        </p:nvSpPr>
        <p:spPr>
          <a:xfrm>
            <a:off x="2540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69235F5-1495-8CFA-7975-E5C6F1467347}"/>
              </a:ext>
            </a:extLst>
          </p:cNvPr>
          <p:cNvSpPr/>
          <p:nvPr/>
        </p:nvSpPr>
        <p:spPr>
          <a:xfrm>
            <a:off x="2540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1369B164-8218-8695-C5FA-25F07535C69B}"/>
              </a:ext>
            </a:extLst>
          </p:cNvPr>
          <p:cNvSpPr/>
          <p:nvPr/>
        </p:nvSpPr>
        <p:spPr>
          <a:xfrm>
            <a:off x="3683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87CA0D8-1F65-9477-67ED-8AAD8B4BA8C1}"/>
              </a:ext>
            </a:extLst>
          </p:cNvPr>
          <p:cNvSpPr txBox="1"/>
          <p:nvPr/>
        </p:nvSpPr>
        <p:spPr>
          <a:xfrm>
            <a:off x="3683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Res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E9CE477-B8DC-71E2-3B41-CD7C597DCD64}"/>
              </a:ext>
            </a:extLst>
          </p:cNvPr>
          <p:cNvSpPr txBox="1"/>
          <p:nvPr/>
        </p:nvSpPr>
        <p:spPr>
          <a:xfrm>
            <a:off x="8509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Resolucao agil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9927955-600C-6256-05E2-AAA840ACE17F}"/>
              </a:ext>
            </a:extLst>
          </p:cNvPr>
          <p:cNvSpPr txBox="1"/>
          <p:nvPr/>
        </p:nvSpPr>
        <p:spPr>
          <a:xfrm>
            <a:off x="3429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Redesignacao rapida diretamente na tela de conflitos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9299A156-FAE8-82A4-CF67-63EC1EB33074}"/>
              </a:ext>
            </a:extLst>
          </p:cNvPr>
          <p:cNvSpPr/>
          <p:nvPr/>
        </p:nvSpPr>
        <p:spPr>
          <a:xfrm>
            <a:off x="32004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67D937C-E5D5-52B4-1DED-FDE8DF1CB71C}"/>
              </a:ext>
            </a:extLst>
          </p:cNvPr>
          <p:cNvSpPr/>
          <p:nvPr/>
        </p:nvSpPr>
        <p:spPr>
          <a:xfrm>
            <a:off x="32004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136D0598-1D23-DF04-FCDF-27F7259547F5}"/>
              </a:ext>
            </a:extLst>
          </p:cNvPr>
          <p:cNvSpPr/>
          <p:nvPr/>
        </p:nvSpPr>
        <p:spPr>
          <a:xfrm>
            <a:off x="33147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F8AC87D7-B961-32BF-4AB9-8420D1742E33}"/>
              </a:ext>
            </a:extLst>
          </p:cNvPr>
          <p:cNvSpPr txBox="1"/>
          <p:nvPr/>
        </p:nvSpPr>
        <p:spPr>
          <a:xfrm>
            <a:off x="33147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Log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BD1869AC-7185-C8DC-84E3-F9E24021214A}"/>
              </a:ext>
            </a:extLst>
          </p:cNvPr>
          <p:cNvSpPr txBox="1"/>
          <p:nvPr/>
        </p:nvSpPr>
        <p:spPr>
          <a:xfrm>
            <a:off x="37973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Auditoria registrada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37AA7850-D45F-AF3F-4F46-3060F36619F8}"/>
              </a:ext>
            </a:extLst>
          </p:cNvPr>
          <p:cNvSpPr txBox="1"/>
          <p:nvPr/>
        </p:nvSpPr>
        <p:spPr>
          <a:xfrm>
            <a:off x="32893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Todas as resolucoes ficam registradas no historico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CD0B3E5B-F80E-75AE-7B32-22A519DA9354}"/>
              </a:ext>
            </a:extLst>
          </p:cNvPr>
          <p:cNvSpPr/>
          <p:nvPr/>
        </p:nvSpPr>
        <p:spPr>
          <a:xfrm>
            <a:off x="61468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261EA397-EE0D-42B4-9854-CD0A6A79AA28}"/>
              </a:ext>
            </a:extLst>
          </p:cNvPr>
          <p:cNvSpPr/>
          <p:nvPr/>
        </p:nvSpPr>
        <p:spPr>
          <a:xfrm>
            <a:off x="61468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582CAE7F-84FE-EDA5-C016-7D88FDD864A2}"/>
              </a:ext>
            </a:extLst>
          </p:cNvPr>
          <p:cNvSpPr/>
          <p:nvPr/>
        </p:nvSpPr>
        <p:spPr>
          <a:xfrm>
            <a:off x="62484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F88870B0-1FC4-7B59-304F-EA88C49A6109}"/>
              </a:ext>
            </a:extLst>
          </p:cNvPr>
          <p:cNvSpPr txBox="1"/>
          <p:nvPr/>
        </p:nvSpPr>
        <p:spPr>
          <a:xfrm>
            <a:off x="62484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Cnt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7A38F61-B21C-3ECD-FC29-4D833FFF4166}"/>
              </a:ext>
            </a:extLst>
          </p:cNvPr>
          <p:cNvSpPr txBox="1"/>
          <p:nvPr/>
        </p:nvSpPr>
        <p:spPr>
          <a:xfrm>
            <a:off x="67437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Contador em tempo real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E2D5704-A286-0C8F-ABAC-148BA153F70A}"/>
              </a:ext>
            </a:extLst>
          </p:cNvPr>
          <p:cNvSpPr txBox="1"/>
          <p:nvPr/>
        </p:nvSpPr>
        <p:spPr>
          <a:xfrm>
            <a:off x="62357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Badge atualizado automaticamente ao resolver conflitos</a:t>
            </a:r>
          </a:p>
        </p:txBody>
      </p:sp>
    </p:spTree>
    <p:extLst>
      <p:ext uri="{BB962C8B-B14F-4D97-AF65-F5344CB8AC3E}">
        <p14:creationId xmlns:p14="http://schemas.microsoft.com/office/powerpoint/2010/main" val="2372772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18B1634-B7F1-78C1-4699-0C80F42ECA8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1150535-D6BE-BA14-D514-BD689CA9755B}"/>
              </a:ext>
            </a:extLst>
          </p:cNvPr>
          <p:cNvSpPr/>
          <p:nvPr/>
        </p:nvSpPr>
        <p:spPr>
          <a:xfrm>
            <a:off x="0" y="0"/>
            <a:ext cx="9144000" cy="6223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082992B-51E0-5DCE-89FB-433005C35472}"/>
              </a:ext>
            </a:extLst>
          </p:cNvPr>
          <p:cNvSpPr txBox="1"/>
          <p:nvPr/>
        </p:nvSpPr>
        <p:spPr>
          <a:xfrm>
            <a:off x="279400" y="50800"/>
            <a:ext cx="640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FFFFFF"/>
                </a:solidFill>
                <a:latin typeface="Calibri" panose="020F0502020204030204" pitchFamily="34" charset="0"/>
              </a:rPr>
              <a:t>Historico de Designacoes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0B403CF-C134-F2AE-60EE-A4DFA4B91518}"/>
              </a:ext>
            </a:extLst>
          </p:cNvPr>
          <p:cNvSpPr/>
          <p:nvPr/>
        </p:nvSpPr>
        <p:spPr>
          <a:xfrm>
            <a:off x="6946900" y="88900"/>
            <a:ext cx="2006600" cy="419100"/>
          </a:xfrm>
          <a:prstGeom prst="rect">
            <a:avLst/>
          </a:prstGeom>
          <a:solidFill>
            <a:srgbClr val="0085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2F3AACF-0FF2-9211-0710-7A4B2078C813}"/>
              </a:ext>
            </a:extLst>
          </p:cNvPr>
          <p:cNvSpPr txBox="1"/>
          <p:nvPr/>
        </p:nvSpPr>
        <p:spPr>
          <a:xfrm>
            <a:off x="6946900" y="88900"/>
            <a:ext cx="2006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800">
                <a:solidFill>
                  <a:srgbClr val="FFFFFF"/>
                </a:solidFill>
                <a:latin typeface="Calibri" panose="020F0502020204030204" pitchFamily="34" charset="0"/>
              </a:rPr>
              <a:t>Hist. Designacoes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0D1E4B0-B12F-2E53-5CE5-91DC184ED033}"/>
              </a:ext>
            </a:extLst>
          </p:cNvPr>
          <p:cNvSpPr txBox="1"/>
          <p:nvPr/>
        </p:nvSpPr>
        <p:spPr>
          <a:xfrm>
            <a:off x="368300" y="749300"/>
            <a:ext cx="840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i="1">
                <a:solidFill>
                  <a:srgbClr val="557789"/>
                </a:solidFill>
                <a:latin typeface="Calibri" panose="020F0502020204030204" pitchFamily="34" charset="0"/>
              </a:rPr>
              <a:t>Rastreamento completo de todas as designacoes e alteracoes realizadas no sistema.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2CD94BA-6AC7-C78B-F48F-1A4F592AE594}"/>
              </a:ext>
            </a:extLst>
          </p:cNvPr>
          <p:cNvSpPr/>
          <p:nvPr/>
        </p:nvSpPr>
        <p:spPr>
          <a:xfrm>
            <a:off x="2540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E19FD2C-33DC-326E-E708-F65F353734FF}"/>
              </a:ext>
            </a:extLst>
          </p:cNvPr>
          <p:cNvSpPr/>
          <p:nvPr/>
        </p:nvSpPr>
        <p:spPr>
          <a:xfrm>
            <a:off x="2540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B957772-8CFC-F745-F2D2-C28D837F913B}"/>
              </a:ext>
            </a:extLst>
          </p:cNvPr>
          <p:cNvSpPr/>
          <p:nvPr/>
        </p:nvSpPr>
        <p:spPr>
          <a:xfrm>
            <a:off x="3683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6C788E1-4B24-B5A5-03C7-BC0A677D0369}"/>
              </a:ext>
            </a:extLst>
          </p:cNvPr>
          <p:cNvSpPr txBox="1"/>
          <p:nvPr/>
        </p:nvSpPr>
        <p:spPr>
          <a:xfrm>
            <a:off x="3683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Log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6C8F7B8-CBDE-1424-9CD1-DB3028835830}"/>
              </a:ext>
            </a:extLst>
          </p:cNvPr>
          <p:cNvSpPr txBox="1"/>
          <p:nvPr/>
        </p:nvSpPr>
        <p:spPr>
          <a:xfrm>
            <a:off x="8509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Log completo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9291441-F4FF-2A2D-874A-D1B1D500BD20}"/>
              </a:ext>
            </a:extLst>
          </p:cNvPr>
          <p:cNvSpPr txBox="1"/>
          <p:nvPr/>
        </p:nvSpPr>
        <p:spPr>
          <a:xfrm>
            <a:off x="3429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Registro de todas as designacoes com data e hora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35EE1CD-02A5-7C04-72D9-E0E50E90F228}"/>
              </a:ext>
            </a:extLst>
          </p:cNvPr>
          <p:cNvSpPr/>
          <p:nvPr/>
        </p:nvSpPr>
        <p:spPr>
          <a:xfrm>
            <a:off x="32004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5501107-EB5B-0EEE-F1AC-278A78C44F0B}"/>
              </a:ext>
            </a:extLst>
          </p:cNvPr>
          <p:cNvSpPr/>
          <p:nvPr/>
        </p:nvSpPr>
        <p:spPr>
          <a:xfrm>
            <a:off x="32004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284573A-A280-EE71-E6E9-90FF8B825027}"/>
              </a:ext>
            </a:extLst>
          </p:cNvPr>
          <p:cNvSpPr/>
          <p:nvPr/>
        </p:nvSpPr>
        <p:spPr>
          <a:xfrm>
            <a:off x="33147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91E409F-F56F-DB10-8E11-42EA7D747595}"/>
              </a:ext>
            </a:extLst>
          </p:cNvPr>
          <p:cNvSpPr txBox="1"/>
          <p:nvPr/>
        </p:nvSpPr>
        <p:spPr>
          <a:xfrm>
            <a:off x="33147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Usr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A51D359-4B63-65EF-18DE-2DFE1885C840}"/>
              </a:ext>
            </a:extLst>
          </p:cNvPr>
          <p:cNvSpPr txBox="1"/>
          <p:nvPr/>
        </p:nvSpPr>
        <p:spPr>
          <a:xfrm>
            <a:off x="37973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Responsavel pela acao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38A7779-48F9-A914-96D4-2ACFB986A683}"/>
              </a:ext>
            </a:extLst>
          </p:cNvPr>
          <p:cNvSpPr txBox="1"/>
          <p:nvPr/>
        </p:nvSpPr>
        <p:spPr>
          <a:xfrm>
            <a:off x="32893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Identificacao do usuario que realizou cada alteracao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BCF3822-2F15-9E7C-1802-C9738AACB1D9}"/>
              </a:ext>
            </a:extLst>
          </p:cNvPr>
          <p:cNvSpPr/>
          <p:nvPr/>
        </p:nvSpPr>
        <p:spPr>
          <a:xfrm>
            <a:off x="61468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0E8282E-3262-B68B-B96A-F8FEABF854B2}"/>
              </a:ext>
            </a:extLst>
          </p:cNvPr>
          <p:cNvSpPr/>
          <p:nvPr/>
        </p:nvSpPr>
        <p:spPr>
          <a:xfrm>
            <a:off x="61468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AE7C061-9EE2-61B4-71BC-586B4235B1E4}"/>
              </a:ext>
            </a:extLst>
          </p:cNvPr>
          <p:cNvSpPr/>
          <p:nvPr/>
        </p:nvSpPr>
        <p:spPr>
          <a:xfrm>
            <a:off x="62484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E7B2689-9193-9087-197F-9D7CDAA3AA12}"/>
              </a:ext>
            </a:extLst>
          </p:cNvPr>
          <p:cNvSpPr txBox="1"/>
          <p:nvPr/>
        </p:nvSpPr>
        <p:spPr>
          <a:xfrm>
            <a:off x="62484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Dif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3D6DB6B-5F7E-5385-0C65-76AD09A74841}"/>
              </a:ext>
            </a:extLst>
          </p:cNvPr>
          <p:cNvSpPr txBox="1"/>
          <p:nvPr/>
        </p:nvSpPr>
        <p:spPr>
          <a:xfrm>
            <a:off x="67437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Antes e depois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7AA9210-D689-F329-AB57-1DE68D434D75}"/>
              </a:ext>
            </a:extLst>
          </p:cNvPr>
          <p:cNvSpPr txBox="1"/>
          <p:nvPr/>
        </p:nvSpPr>
        <p:spPr>
          <a:xfrm>
            <a:off x="62357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Compara o valor anterior com o novo em cada edicao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877D335-780E-4333-3058-EC164B9FFABE}"/>
              </a:ext>
            </a:extLst>
          </p:cNvPr>
          <p:cNvSpPr/>
          <p:nvPr/>
        </p:nvSpPr>
        <p:spPr>
          <a:xfrm>
            <a:off x="2540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A1B2BA8-8B31-EF3C-1F50-D9E684E87900}"/>
              </a:ext>
            </a:extLst>
          </p:cNvPr>
          <p:cNvSpPr/>
          <p:nvPr/>
        </p:nvSpPr>
        <p:spPr>
          <a:xfrm>
            <a:off x="2540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A007EE85-431D-E609-659E-1EE351F78D54}"/>
              </a:ext>
            </a:extLst>
          </p:cNvPr>
          <p:cNvSpPr/>
          <p:nvPr/>
        </p:nvSpPr>
        <p:spPr>
          <a:xfrm>
            <a:off x="3683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285E49F-9F44-61D3-1B02-7CC61A46E58E}"/>
              </a:ext>
            </a:extLst>
          </p:cNvPr>
          <p:cNvSpPr txBox="1"/>
          <p:nvPr/>
        </p:nvSpPr>
        <p:spPr>
          <a:xfrm>
            <a:off x="3683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Bsc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7DD03947-A94C-4190-DD01-BF319078C5C1}"/>
              </a:ext>
            </a:extLst>
          </p:cNvPr>
          <p:cNvSpPr txBox="1"/>
          <p:nvPr/>
        </p:nvSpPr>
        <p:spPr>
          <a:xfrm>
            <a:off x="8509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Busca avancada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E3BDCAD-55AA-2296-4585-28968E79A485}"/>
              </a:ext>
            </a:extLst>
          </p:cNvPr>
          <p:cNvSpPr txBox="1"/>
          <p:nvPr/>
        </p:nvSpPr>
        <p:spPr>
          <a:xfrm>
            <a:off x="3429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Pesquise por processo, cliente, advogado ou origem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71C7C196-5432-0ABE-88C1-73B53489D38F}"/>
              </a:ext>
            </a:extLst>
          </p:cNvPr>
          <p:cNvSpPr/>
          <p:nvPr/>
        </p:nvSpPr>
        <p:spPr>
          <a:xfrm>
            <a:off x="32004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B033A8E4-1767-D604-9198-0F2BEF13DC26}"/>
              </a:ext>
            </a:extLst>
          </p:cNvPr>
          <p:cNvSpPr/>
          <p:nvPr/>
        </p:nvSpPr>
        <p:spPr>
          <a:xfrm>
            <a:off x="32004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3EEC4115-33C2-53B1-8325-54202B9D2E5A}"/>
              </a:ext>
            </a:extLst>
          </p:cNvPr>
          <p:cNvSpPr/>
          <p:nvPr/>
        </p:nvSpPr>
        <p:spPr>
          <a:xfrm>
            <a:off x="33147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53E1028-927B-BF30-AE7D-B284E399AB81}"/>
              </a:ext>
            </a:extLst>
          </p:cNvPr>
          <p:cNvSpPr txBox="1"/>
          <p:nvPr/>
        </p:nvSpPr>
        <p:spPr>
          <a:xfrm>
            <a:off x="33147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!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D136FBC-52E2-58CA-D7BE-F763BDA0A872}"/>
              </a:ext>
            </a:extLst>
          </p:cNvPr>
          <p:cNvSpPr txBox="1"/>
          <p:nvPr/>
        </p:nvSpPr>
        <p:spPr>
          <a:xfrm>
            <a:off x="37973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Conflitos registrados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640B005-FA38-1FB0-5490-510D450D35F8}"/>
              </a:ext>
            </a:extLst>
          </p:cNvPr>
          <p:cNvSpPr txBox="1"/>
          <p:nvPr/>
        </p:nvSpPr>
        <p:spPr>
          <a:xfrm>
            <a:off x="32893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Alertas de conflitos de designacao no historico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11E266F8-D849-AD74-60EF-8A311903F6A6}"/>
              </a:ext>
            </a:extLst>
          </p:cNvPr>
          <p:cNvSpPr/>
          <p:nvPr/>
        </p:nvSpPr>
        <p:spPr>
          <a:xfrm>
            <a:off x="61468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7305C946-C4BB-87A8-F3D5-7D65370CEA17}"/>
              </a:ext>
            </a:extLst>
          </p:cNvPr>
          <p:cNvSpPr/>
          <p:nvPr/>
        </p:nvSpPr>
        <p:spPr>
          <a:xfrm>
            <a:off x="61468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67CE1E74-B294-D00D-AF5A-CC0253F7D934}"/>
              </a:ext>
            </a:extLst>
          </p:cNvPr>
          <p:cNvSpPr/>
          <p:nvPr/>
        </p:nvSpPr>
        <p:spPr>
          <a:xfrm>
            <a:off x="62484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835C527-D6B6-593D-9277-4E982FA0ABC9}"/>
              </a:ext>
            </a:extLst>
          </p:cNvPr>
          <p:cNvSpPr txBox="1"/>
          <p:nvPr/>
        </p:nvSpPr>
        <p:spPr>
          <a:xfrm>
            <a:off x="62484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Exp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5F784F54-EBE9-A6E3-6ECC-8D5F2D6DF9AA}"/>
              </a:ext>
            </a:extLst>
          </p:cNvPr>
          <p:cNvSpPr txBox="1"/>
          <p:nvPr/>
        </p:nvSpPr>
        <p:spPr>
          <a:xfrm>
            <a:off x="67437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Exportacao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30D5B04-35CE-1DCE-47A7-BC792B6631F4}"/>
              </a:ext>
            </a:extLst>
          </p:cNvPr>
          <p:cNvSpPr txBox="1"/>
          <p:nvPr/>
        </p:nvSpPr>
        <p:spPr>
          <a:xfrm>
            <a:off x="62357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Exporte o historico filtrado para planilha Excel</a:t>
            </a:r>
          </a:p>
        </p:txBody>
      </p:sp>
    </p:spTree>
    <p:extLst>
      <p:ext uri="{BB962C8B-B14F-4D97-AF65-F5344CB8AC3E}">
        <p14:creationId xmlns:p14="http://schemas.microsoft.com/office/powerpoint/2010/main" val="847492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77485A5-C264-1204-C350-5C62C972678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14DA468-E666-B62B-EEBF-438A8682BDB5}"/>
              </a:ext>
            </a:extLst>
          </p:cNvPr>
          <p:cNvSpPr/>
          <p:nvPr/>
        </p:nvSpPr>
        <p:spPr>
          <a:xfrm>
            <a:off x="0" y="0"/>
            <a:ext cx="9144000" cy="6223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0318F4-35F0-6BCE-2257-DB8CA47410FE}"/>
              </a:ext>
            </a:extLst>
          </p:cNvPr>
          <p:cNvSpPr txBox="1"/>
          <p:nvPr/>
        </p:nvSpPr>
        <p:spPr>
          <a:xfrm>
            <a:off x="279400" y="50800"/>
            <a:ext cx="640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FFFFFF"/>
                </a:solidFill>
                <a:latin typeface="Calibri" panose="020F0502020204030204" pitchFamily="34" charset="0"/>
              </a:rPr>
              <a:t>Mapa de Comarcas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950B602-459D-7959-450C-43A2DFDFBFE5}"/>
              </a:ext>
            </a:extLst>
          </p:cNvPr>
          <p:cNvSpPr/>
          <p:nvPr/>
        </p:nvSpPr>
        <p:spPr>
          <a:xfrm>
            <a:off x="6946900" y="88900"/>
            <a:ext cx="2006600" cy="419100"/>
          </a:xfrm>
          <a:prstGeom prst="rect">
            <a:avLst/>
          </a:prstGeom>
          <a:solidFill>
            <a:srgbClr val="0085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7645B8-8B9E-5174-A9CF-C5F104BA8D9B}"/>
              </a:ext>
            </a:extLst>
          </p:cNvPr>
          <p:cNvSpPr txBox="1"/>
          <p:nvPr/>
        </p:nvSpPr>
        <p:spPr>
          <a:xfrm>
            <a:off x="6946900" y="88900"/>
            <a:ext cx="2006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800">
                <a:solidFill>
                  <a:srgbClr val="FFFFFF"/>
                </a:solidFill>
                <a:latin typeface="Calibri" panose="020F0502020204030204" pitchFamily="34" charset="0"/>
              </a:rPr>
              <a:t>Comarcas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71CE5AE-DBC2-E020-8A42-16847738CEA7}"/>
              </a:ext>
            </a:extLst>
          </p:cNvPr>
          <p:cNvSpPr txBox="1"/>
          <p:nvPr/>
        </p:nvSpPr>
        <p:spPr>
          <a:xfrm>
            <a:off x="368300" y="749300"/>
            <a:ext cx="840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i="1">
                <a:solidFill>
                  <a:srgbClr val="557789"/>
                </a:solidFill>
                <a:latin typeface="Calibri" panose="020F0502020204030204" pitchFamily="34" charset="0"/>
              </a:rPr>
              <a:t>Distribuicao geografica das audiencias por comarca e vara para planejamento logistico.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106B08D-2E3D-60F0-55FF-AC31E98C5672}"/>
              </a:ext>
            </a:extLst>
          </p:cNvPr>
          <p:cNvSpPr/>
          <p:nvPr/>
        </p:nvSpPr>
        <p:spPr>
          <a:xfrm>
            <a:off x="2540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E7D3CDE-EDF5-CD72-A089-D7CA18C52DBF}"/>
              </a:ext>
            </a:extLst>
          </p:cNvPr>
          <p:cNvSpPr/>
          <p:nvPr/>
        </p:nvSpPr>
        <p:spPr>
          <a:xfrm>
            <a:off x="2540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DA93E12-2BE6-9A9F-84F9-B10DB0B34B90}"/>
              </a:ext>
            </a:extLst>
          </p:cNvPr>
          <p:cNvSpPr/>
          <p:nvPr/>
        </p:nvSpPr>
        <p:spPr>
          <a:xfrm>
            <a:off x="3683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4540FC-9805-4113-FF96-50747073A368}"/>
              </a:ext>
            </a:extLst>
          </p:cNvPr>
          <p:cNvSpPr txBox="1"/>
          <p:nvPr/>
        </p:nvSpPr>
        <p:spPr>
          <a:xfrm>
            <a:off x="3683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Map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A03217C-2D24-B634-2E4D-72FA371A0DD7}"/>
              </a:ext>
            </a:extLst>
          </p:cNvPr>
          <p:cNvSpPr txBox="1"/>
          <p:nvPr/>
        </p:nvSpPr>
        <p:spPr>
          <a:xfrm>
            <a:off x="8509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Listagem por comarca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00ADC81-C179-F9B8-39E4-65F983BA41AC}"/>
              </a:ext>
            </a:extLst>
          </p:cNvPr>
          <p:cNvSpPr txBox="1"/>
          <p:nvPr/>
        </p:nvSpPr>
        <p:spPr>
          <a:xfrm>
            <a:off x="3429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Todas as comarcas com audiencias ativas exibidas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B592B26-97D9-2C37-C06D-6DDD7CDC5FFD}"/>
              </a:ext>
            </a:extLst>
          </p:cNvPr>
          <p:cNvSpPr/>
          <p:nvPr/>
        </p:nvSpPr>
        <p:spPr>
          <a:xfrm>
            <a:off x="32004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DD8CD2D-B2CF-E159-CA31-CC4E30A3FDC9}"/>
              </a:ext>
            </a:extLst>
          </p:cNvPr>
          <p:cNvSpPr/>
          <p:nvPr/>
        </p:nvSpPr>
        <p:spPr>
          <a:xfrm>
            <a:off x="32004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4A48119-4068-3211-997E-FC8EC98680AB}"/>
              </a:ext>
            </a:extLst>
          </p:cNvPr>
          <p:cNvSpPr/>
          <p:nvPr/>
        </p:nvSpPr>
        <p:spPr>
          <a:xfrm>
            <a:off x="33147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C133551-E08E-2B31-F4E2-CA072C556BCF}"/>
              </a:ext>
            </a:extLst>
          </p:cNvPr>
          <p:cNvSpPr txBox="1"/>
          <p:nvPr/>
        </p:nvSpPr>
        <p:spPr>
          <a:xfrm>
            <a:off x="33147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Var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F9DED8D-9ACF-8551-A8A8-AB4338054861}"/>
              </a:ext>
            </a:extLst>
          </p:cNvPr>
          <p:cNvSpPr txBox="1"/>
          <p:nvPr/>
        </p:nvSpPr>
        <p:spPr>
          <a:xfrm>
            <a:off x="37973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Varas detalhadas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67ECC8E-3EB2-91B2-71EF-257FA93B2A31}"/>
              </a:ext>
            </a:extLst>
          </p:cNvPr>
          <p:cNvSpPr txBox="1"/>
          <p:nvPr/>
        </p:nvSpPr>
        <p:spPr>
          <a:xfrm>
            <a:off x="32893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Detalhamento das varas dentro de cada comarca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196CB2F-BFEA-8A66-4C61-4018825CDD2A}"/>
              </a:ext>
            </a:extLst>
          </p:cNvPr>
          <p:cNvSpPr/>
          <p:nvPr/>
        </p:nvSpPr>
        <p:spPr>
          <a:xfrm>
            <a:off x="61468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88D3F12-C462-8242-CFF5-EC1FA65107E1}"/>
              </a:ext>
            </a:extLst>
          </p:cNvPr>
          <p:cNvSpPr/>
          <p:nvPr/>
        </p:nvSpPr>
        <p:spPr>
          <a:xfrm>
            <a:off x="61468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56E4A4C5-F3CA-ACE9-FEFA-FEB0FF10FBE4}"/>
              </a:ext>
            </a:extLst>
          </p:cNvPr>
          <p:cNvSpPr/>
          <p:nvPr/>
        </p:nvSpPr>
        <p:spPr>
          <a:xfrm>
            <a:off x="62484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F67B79A-8FCD-49CB-4A35-0DE953D6CC0F}"/>
              </a:ext>
            </a:extLst>
          </p:cNvPr>
          <p:cNvSpPr txBox="1"/>
          <p:nvPr/>
        </p:nvSpPr>
        <p:spPr>
          <a:xfrm>
            <a:off x="62484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Num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14D46E3-F2E7-5E84-DA1F-2324375B3D35}"/>
              </a:ext>
            </a:extLst>
          </p:cNvPr>
          <p:cNvSpPr txBox="1"/>
          <p:nvPr/>
        </p:nvSpPr>
        <p:spPr>
          <a:xfrm>
            <a:off x="67437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Quantidade por local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2BE4FFC-3214-2A1C-CC7D-EBA1EBA24B2E}"/>
              </a:ext>
            </a:extLst>
          </p:cNvPr>
          <p:cNvSpPr txBox="1"/>
          <p:nvPr/>
        </p:nvSpPr>
        <p:spPr>
          <a:xfrm>
            <a:off x="62357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Contagem de audiencias por comarca e vara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B494227-0C10-5DBC-6670-8AB7DDEE834A}"/>
              </a:ext>
            </a:extLst>
          </p:cNvPr>
          <p:cNvSpPr/>
          <p:nvPr/>
        </p:nvSpPr>
        <p:spPr>
          <a:xfrm>
            <a:off x="2540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4B63604-8450-C7D7-3E03-FECD044FB120}"/>
              </a:ext>
            </a:extLst>
          </p:cNvPr>
          <p:cNvSpPr/>
          <p:nvPr/>
        </p:nvSpPr>
        <p:spPr>
          <a:xfrm>
            <a:off x="2540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325E10AF-2006-D303-6A8F-89A393B01E08}"/>
              </a:ext>
            </a:extLst>
          </p:cNvPr>
          <p:cNvSpPr/>
          <p:nvPr/>
        </p:nvSpPr>
        <p:spPr>
          <a:xfrm>
            <a:off x="3683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37067E2-AB55-011D-8543-1F4E60B860DE}"/>
              </a:ext>
            </a:extLst>
          </p:cNvPr>
          <p:cNvSpPr txBox="1"/>
          <p:nvPr/>
        </p:nvSpPr>
        <p:spPr>
          <a:xfrm>
            <a:off x="3683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Fil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FD8D90E-A1D0-AE9A-12CB-4F66C041F065}"/>
              </a:ext>
            </a:extLst>
          </p:cNvPr>
          <p:cNvSpPr txBox="1"/>
          <p:nvPr/>
        </p:nvSpPr>
        <p:spPr>
          <a:xfrm>
            <a:off x="8509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Filtro por grupo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89993FA-9381-074F-AC14-57150806E46F}"/>
              </a:ext>
            </a:extLst>
          </p:cNvPr>
          <p:cNvSpPr txBox="1"/>
          <p:nvPr/>
        </p:nvSpPr>
        <p:spPr>
          <a:xfrm>
            <a:off x="3429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Visualize comarcas filtradas por equipe de trabalho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DE07D1F-9DA6-EAA4-0B69-10C68FFEB9E3}"/>
              </a:ext>
            </a:extLst>
          </p:cNvPr>
          <p:cNvSpPr/>
          <p:nvPr/>
        </p:nvSpPr>
        <p:spPr>
          <a:xfrm>
            <a:off x="32004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9DE2A585-3C64-7DCA-4C13-D3DB2A5E6BB1}"/>
              </a:ext>
            </a:extLst>
          </p:cNvPr>
          <p:cNvSpPr/>
          <p:nvPr/>
        </p:nvSpPr>
        <p:spPr>
          <a:xfrm>
            <a:off x="32004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15823C1E-8A19-1B3B-1CE1-D7AA7E5A970F}"/>
              </a:ext>
            </a:extLst>
          </p:cNvPr>
          <p:cNvSpPr/>
          <p:nvPr/>
        </p:nvSpPr>
        <p:spPr>
          <a:xfrm>
            <a:off x="33147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D4CDB54-6DA9-8699-BE3A-BFA146EA2FA2}"/>
              </a:ext>
            </a:extLst>
          </p:cNvPr>
          <p:cNvSpPr txBox="1"/>
          <p:nvPr/>
        </p:nvSpPr>
        <p:spPr>
          <a:xfrm>
            <a:off x="33147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Cal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8A88CF3-8EF0-9E5E-9A31-4E59E5283B86}"/>
              </a:ext>
            </a:extLst>
          </p:cNvPr>
          <p:cNvSpPr txBox="1"/>
          <p:nvPr/>
        </p:nvSpPr>
        <p:spPr>
          <a:xfrm>
            <a:off x="37973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Agrupamento por data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7A1F72E-43FB-F488-9F0E-5C2A455D1BDD}"/>
              </a:ext>
            </a:extLst>
          </p:cNvPr>
          <p:cNvSpPr txBox="1"/>
          <p:nvPr/>
        </p:nvSpPr>
        <p:spPr>
          <a:xfrm>
            <a:off x="32893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Organize por datas para facilitar o deslocamento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EDE4B1FE-7DB8-C1D8-9305-1E63FA187128}"/>
              </a:ext>
            </a:extLst>
          </p:cNvPr>
          <p:cNvSpPr/>
          <p:nvPr/>
        </p:nvSpPr>
        <p:spPr>
          <a:xfrm>
            <a:off x="61468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CCF55E8B-F261-DD45-4B98-4ED05C220B18}"/>
              </a:ext>
            </a:extLst>
          </p:cNvPr>
          <p:cNvSpPr/>
          <p:nvPr/>
        </p:nvSpPr>
        <p:spPr>
          <a:xfrm>
            <a:off x="61468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1F14CE2C-9146-530E-A8A6-F7AA3CE1F669}"/>
              </a:ext>
            </a:extLst>
          </p:cNvPr>
          <p:cNvSpPr/>
          <p:nvPr/>
        </p:nvSpPr>
        <p:spPr>
          <a:xfrm>
            <a:off x="62484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D6D6DC7-0110-3902-4B5E-7EB1AD9A0DD9}"/>
              </a:ext>
            </a:extLst>
          </p:cNvPr>
          <p:cNvSpPr txBox="1"/>
          <p:nvPr/>
        </p:nvSpPr>
        <p:spPr>
          <a:xfrm>
            <a:off x="62484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Pln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50BBC09-56FC-6972-30BA-5F69A29FA87B}"/>
              </a:ext>
            </a:extLst>
          </p:cNvPr>
          <p:cNvSpPr txBox="1"/>
          <p:nvPr/>
        </p:nvSpPr>
        <p:spPr>
          <a:xfrm>
            <a:off x="67437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Planejamento logistico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320230B4-7BDF-6D3C-F72C-51BA2E7C7B7E}"/>
              </a:ext>
            </a:extLst>
          </p:cNvPr>
          <p:cNvSpPr txBox="1"/>
          <p:nvPr/>
        </p:nvSpPr>
        <p:spPr>
          <a:xfrm>
            <a:off x="62357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Base para distribuicao de advogados por regiao</a:t>
            </a:r>
          </a:p>
        </p:txBody>
      </p:sp>
    </p:spTree>
    <p:extLst>
      <p:ext uri="{BB962C8B-B14F-4D97-AF65-F5344CB8AC3E}">
        <p14:creationId xmlns:p14="http://schemas.microsoft.com/office/powerpoint/2010/main" val="1220398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E00631F-EBBD-BAB4-4586-CAD7DDAC0F7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C029738-C622-4F4E-CC2E-4C71411F4549}"/>
              </a:ext>
            </a:extLst>
          </p:cNvPr>
          <p:cNvSpPr/>
          <p:nvPr/>
        </p:nvSpPr>
        <p:spPr>
          <a:xfrm>
            <a:off x="0" y="0"/>
            <a:ext cx="9144000" cy="6223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8725C9-469E-9217-5A52-E76FCB39AB15}"/>
              </a:ext>
            </a:extLst>
          </p:cNvPr>
          <p:cNvSpPr txBox="1"/>
          <p:nvPr/>
        </p:nvSpPr>
        <p:spPr>
          <a:xfrm>
            <a:off x="279400" y="50800"/>
            <a:ext cx="640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FFFFFF"/>
                </a:solidFill>
                <a:latin typeface="Calibri" panose="020F0502020204030204" pitchFamily="34" charset="0"/>
              </a:rPr>
              <a:t>Gestao de Responsaveis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D782D75-770E-510B-F0F6-17E101858A0D}"/>
              </a:ext>
            </a:extLst>
          </p:cNvPr>
          <p:cNvSpPr/>
          <p:nvPr/>
        </p:nvSpPr>
        <p:spPr>
          <a:xfrm>
            <a:off x="6946900" y="88900"/>
            <a:ext cx="2006600" cy="419100"/>
          </a:xfrm>
          <a:prstGeom prst="rect">
            <a:avLst/>
          </a:prstGeom>
          <a:solidFill>
            <a:srgbClr val="0085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782DC7-0305-8BF6-4774-35F18177DFA4}"/>
              </a:ext>
            </a:extLst>
          </p:cNvPr>
          <p:cNvSpPr txBox="1"/>
          <p:nvPr/>
        </p:nvSpPr>
        <p:spPr>
          <a:xfrm>
            <a:off x="6946900" y="88900"/>
            <a:ext cx="2006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800">
                <a:solidFill>
                  <a:srgbClr val="FFFFFF"/>
                </a:solidFill>
                <a:latin typeface="Calibri" panose="020F0502020204030204" pitchFamily="34" charset="0"/>
              </a:rPr>
              <a:t>Responsaveis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BE38B76-5121-72CD-9B26-2E1383712D13}"/>
              </a:ext>
            </a:extLst>
          </p:cNvPr>
          <p:cNvSpPr txBox="1"/>
          <p:nvPr/>
        </p:nvSpPr>
        <p:spPr>
          <a:xfrm>
            <a:off x="368300" y="749300"/>
            <a:ext cx="840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i="1">
                <a:solidFill>
                  <a:srgbClr val="557789"/>
                </a:solidFill>
                <a:latin typeface="Calibri" panose="020F0502020204030204" pitchFamily="34" charset="0"/>
              </a:rPr>
              <a:t>Controle dos advogados responsaveis por cada grupo e suas audiencias designadas.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6556C8E-895A-C0AB-7252-824520CECD61}"/>
              </a:ext>
            </a:extLst>
          </p:cNvPr>
          <p:cNvSpPr/>
          <p:nvPr/>
        </p:nvSpPr>
        <p:spPr>
          <a:xfrm>
            <a:off x="2540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5B9A690-731E-6382-E3A5-82E7ACF632E5}"/>
              </a:ext>
            </a:extLst>
          </p:cNvPr>
          <p:cNvSpPr/>
          <p:nvPr/>
        </p:nvSpPr>
        <p:spPr>
          <a:xfrm>
            <a:off x="2540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44A2AB4-9FC6-2774-762D-52C84136E9CD}"/>
              </a:ext>
            </a:extLst>
          </p:cNvPr>
          <p:cNvSpPr/>
          <p:nvPr/>
        </p:nvSpPr>
        <p:spPr>
          <a:xfrm>
            <a:off x="3683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46766BC-2BFD-4D17-487D-D56BF91A946C}"/>
              </a:ext>
            </a:extLst>
          </p:cNvPr>
          <p:cNvSpPr txBox="1"/>
          <p:nvPr/>
        </p:nvSpPr>
        <p:spPr>
          <a:xfrm>
            <a:off x="3683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Grp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19C4527-935C-F5F9-BD2F-C7F0521D0C3E}"/>
              </a:ext>
            </a:extLst>
          </p:cNvPr>
          <p:cNvSpPr txBox="1"/>
          <p:nvPr/>
        </p:nvSpPr>
        <p:spPr>
          <a:xfrm>
            <a:off x="8509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Advogados por grupo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6FA284C-90A2-CAC8-D8FC-A95BD4D66623}"/>
              </a:ext>
            </a:extLst>
          </p:cNvPr>
          <p:cNvSpPr txBox="1"/>
          <p:nvPr/>
        </p:nvSpPr>
        <p:spPr>
          <a:xfrm>
            <a:off x="3429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Listagem dos advogados associados a cada equipe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1D2DEFC-794C-477F-4E1F-435982A97C4E}"/>
              </a:ext>
            </a:extLst>
          </p:cNvPr>
          <p:cNvSpPr/>
          <p:nvPr/>
        </p:nvSpPr>
        <p:spPr>
          <a:xfrm>
            <a:off x="32004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A9303E6-B682-B3EE-F02A-6F15767B1F13}"/>
              </a:ext>
            </a:extLst>
          </p:cNvPr>
          <p:cNvSpPr/>
          <p:nvPr/>
        </p:nvSpPr>
        <p:spPr>
          <a:xfrm>
            <a:off x="32004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9FF4025C-B4E1-8169-7C3D-BBF35CFD7427}"/>
              </a:ext>
            </a:extLst>
          </p:cNvPr>
          <p:cNvSpPr/>
          <p:nvPr/>
        </p:nvSpPr>
        <p:spPr>
          <a:xfrm>
            <a:off x="33147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EC47BE3-674A-5FA4-22FC-7D706644EB44}"/>
              </a:ext>
            </a:extLst>
          </p:cNvPr>
          <p:cNvSpPr txBox="1"/>
          <p:nvPr/>
        </p:nvSpPr>
        <p:spPr>
          <a:xfrm>
            <a:off x="33147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Prf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FC349C8-DEF3-A1A7-D8C2-05AE1DF46137}"/>
              </a:ext>
            </a:extLst>
          </p:cNvPr>
          <p:cNvSpPr txBox="1"/>
          <p:nvPr/>
        </p:nvSpPr>
        <p:spPr>
          <a:xfrm>
            <a:off x="37973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Carga de audiencias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67DEDFA-5B40-BFA9-D8E2-C24C3533A408}"/>
              </a:ext>
            </a:extLst>
          </p:cNvPr>
          <p:cNvSpPr txBox="1"/>
          <p:nvPr/>
        </p:nvSpPr>
        <p:spPr>
          <a:xfrm>
            <a:off x="32893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Quantitativo de designacoes por advogado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DD52237-D238-750D-0FF0-F62BD07E6A99}"/>
              </a:ext>
            </a:extLst>
          </p:cNvPr>
          <p:cNvSpPr/>
          <p:nvPr/>
        </p:nvSpPr>
        <p:spPr>
          <a:xfrm>
            <a:off x="61468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2550CEA-005D-C98A-5F87-93D8B1B4E112}"/>
              </a:ext>
            </a:extLst>
          </p:cNvPr>
          <p:cNvSpPr/>
          <p:nvPr/>
        </p:nvSpPr>
        <p:spPr>
          <a:xfrm>
            <a:off x="61468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66D111A-1C50-353D-6DF4-6B5DA7BB4B8F}"/>
              </a:ext>
            </a:extLst>
          </p:cNvPr>
          <p:cNvSpPr/>
          <p:nvPr/>
        </p:nvSpPr>
        <p:spPr>
          <a:xfrm>
            <a:off x="62484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B22AD10-ED8B-40CB-25CA-1CEBBC435B4F}"/>
              </a:ext>
            </a:extLst>
          </p:cNvPr>
          <p:cNvSpPr txBox="1"/>
          <p:nvPr/>
        </p:nvSpPr>
        <p:spPr>
          <a:xfrm>
            <a:off x="62484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Sig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10AC006-3118-5A3F-DD2E-54CBF930A2AF}"/>
              </a:ext>
            </a:extLst>
          </p:cNvPr>
          <p:cNvSpPr txBox="1"/>
          <p:nvPr/>
        </p:nvSpPr>
        <p:spPr>
          <a:xfrm>
            <a:off x="67437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Siglas identificadoras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B438255-6762-DF14-A8F3-9424E7E866C2}"/>
              </a:ext>
            </a:extLst>
          </p:cNvPr>
          <p:cNvSpPr txBox="1"/>
          <p:nvPr/>
        </p:nvSpPr>
        <p:spPr>
          <a:xfrm>
            <a:off x="62357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Cada advogado possui uma sigla unica no sistema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8CF3258-14F6-6A6A-514F-FED45DD3447A}"/>
              </a:ext>
            </a:extLst>
          </p:cNvPr>
          <p:cNvSpPr/>
          <p:nvPr/>
        </p:nvSpPr>
        <p:spPr>
          <a:xfrm>
            <a:off x="2540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4FB3F00-A786-C4DC-5B5B-B584AD940187}"/>
              </a:ext>
            </a:extLst>
          </p:cNvPr>
          <p:cNvSpPr/>
          <p:nvPr/>
        </p:nvSpPr>
        <p:spPr>
          <a:xfrm>
            <a:off x="2540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125255AA-5129-5AD6-9DEB-FEB04BDF389E}"/>
              </a:ext>
            </a:extLst>
          </p:cNvPr>
          <p:cNvSpPr/>
          <p:nvPr/>
        </p:nvSpPr>
        <p:spPr>
          <a:xfrm>
            <a:off x="3683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43F0A19-E8FC-0530-E5E0-B981A9F78E9E}"/>
              </a:ext>
            </a:extLst>
          </p:cNvPr>
          <p:cNvSpPr txBox="1"/>
          <p:nvPr/>
        </p:nvSpPr>
        <p:spPr>
          <a:xfrm>
            <a:off x="3683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Re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24AA7F6-4304-97CE-CA76-E8EE1BC12F63}"/>
              </a:ext>
            </a:extLst>
          </p:cNvPr>
          <p:cNvSpPr txBox="1"/>
          <p:nvPr/>
        </p:nvSpPr>
        <p:spPr>
          <a:xfrm>
            <a:off x="8509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Reatribuicao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C8C6F04-D885-9BEE-AFCA-7AA9E38E48E6}"/>
              </a:ext>
            </a:extLst>
          </p:cNvPr>
          <p:cNvSpPr txBox="1"/>
          <p:nvPr/>
        </p:nvSpPr>
        <p:spPr>
          <a:xfrm>
            <a:off x="3429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Possibilidade de reatribuir audiencias entre responsaveis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768C606-90EB-DD55-85B2-0D3F25CA678B}"/>
              </a:ext>
            </a:extLst>
          </p:cNvPr>
          <p:cNvSpPr/>
          <p:nvPr/>
        </p:nvSpPr>
        <p:spPr>
          <a:xfrm>
            <a:off x="32004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3D213499-8D10-7165-75D0-8AD6291F76F9}"/>
              </a:ext>
            </a:extLst>
          </p:cNvPr>
          <p:cNvSpPr/>
          <p:nvPr/>
        </p:nvSpPr>
        <p:spPr>
          <a:xfrm>
            <a:off x="32004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983DFC1A-96E6-6F64-0BD2-782AD171E789}"/>
              </a:ext>
            </a:extLst>
          </p:cNvPr>
          <p:cNvSpPr/>
          <p:nvPr/>
        </p:nvSpPr>
        <p:spPr>
          <a:xfrm>
            <a:off x="33147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E2533A9-3DD0-2409-EE0A-66734E717CEB}"/>
              </a:ext>
            </a:extLst>
          </p:cNvPr>
          <p:cNvSpPr txBox="1"/>
          <p:nvPr/>
        </p:nvSpPr>
        <p:spPr>
          <a:xfrm>
            <a:off x="33147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Vis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BE7EF577-4B03-C929-6962-54E82A4D67FA}"/>
              </a:ext>
            </a:extLst>
          </p:cNvPr>
          <p:cNvSpPr txBox="1"/>
          <p:nvPr/>
        </p:nvSpPr>
        <p:spPr>
          <a:xfrm>
            <a:off x="37973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Visao consolidada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C5F2196-3858-911E-BD09-031D10C8220F}"/>
              </a:ext>
            </a:extLst>
          </p:cNvPr>
          <p:cNvSpPr txBox="1"/>
          <p:nvPr/>
        </p:nvSpPr>
        <p:spPr>
          <a:xfrm>
            <a:off x="32893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Panorama completo da distribuicao por profissional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20B044D7-E64E-978A-7F3F-D5CB6FFE7CEF}"/>
              </a:ext>
            </a:extLst>
          </p:cNvPr>
          <p:cNvSpPr/>
          <p:nvPr/>
        </p:nvSpPr>
        <p:spPr>
          <a:xfrm>
            <a:off x="61468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EA5DDBA1-8352-1B82-C758-26E95E731F6C}"/>
              </a:ext>
            </a:extLst>
          </p:cNvPr>
          <p:cNvSpPr/>
          <p:nvPr/>
        </p:nvSpPr>
        <p:spPr>
          <a:xfrm>
            <a:off x="61468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E080287D-225D-D7C5-371A-B713F2134253}"/>
              </a:ext>
            </a:extLst>
          </p:cNvPr>
          <p:cNvSpPr/>
          <p:nvPr/>
        </p:nvSpPr>
        <p:spPr>
          <a:xfrm>
            <a:off x="62484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2E20419-B371-FB27-470E-EE7C43728D1C}"/>
              </a:ext>
            </a:extLst>
          </p:cNvPr>
          <p:cNvSpPr txBox="1"/>
          <p:nvPr/>
        </p:nvSpPr>
        <p:spPr>
          <a:xfrm>
            <a:off x="62484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Alv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E44EB0E-A326-6FBC-AB87-E7538ADC0945}"/>
              </a:ext>
            </a:extLst>
          </p:cNvPr>
          <p:cNvSpPr txBox="1"/>
          <p:nvPr/>
        </p:nvSpPr>
        <p:spPr>
          <a:xfrm>
            <a:off x="67437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Designacao estrategica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18BF8D9-8746-2DC8-4A7E-D6E7668F3295}"/>
              </a:ext>
            </a:extLst>
          </p:cNvPr>
          <p:cNvSpPr txBox="1"/>
          <p:nvPr/>
        </p:nvSpPr>
        <p:spPr>
          <a:xfrm>
            <a:off x="62357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Base para decisoes de distribuicao equilibrada da carga</a:t>
            </a:r>
          </a:p>
        </p:txBody>
      </p:sp>
    </p:spTree>
    <p:extLst>
      <p:ext uri="{BB962C8B-B14F-4D97-AF65-F5344CB8AC3E}">
        <p14:creationId xmlns:p14="http://schemas.microsoft.com/office/powerpoint/2010/main" val="3534032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A384AE2-40EF-567F-EFBC-25E9298AFE8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B7C2398-5002-0A8F-3FF2-75B35BEA36A5}"/>
              </a:ext>
            </a:extLst>
          </p:cNvPr>
          <p:cNvSpPr/>
          <p:nvPr/>
        </p:nvSpPr>
        <p:spPr>
          <a:xfrm>
            <a:off x="0" y="0"/>
            <a:ext cx="9144000" cy="6223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31A8653-C62F-9946-2E69-C9A17BF49DA6}"/>
              </a:ext>
            </a:extLst>
          </p:cNvPr>
          <p:cNvSpPr txBox="1"/>
          <p:nvPr/>
        </p:nvSpPr>
        <p:spPr>
          <a:xfrm>
            <a:off x="279400" y="50800"/>
            <a:ext cx="640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FFFFFF"/>
                </a:solidFill>
                <a:latin typeface="Calibri" panose="020F0502020204030204" pitchFamily="34" charset="0"/>
              </a:rPr>
              <a:t>Pos-Audiencia e Pos-Pericia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C154948-F441-939C-0A87-A57B27AFE9B6}"/>
              </a:ext>
            </a:extLst>
          </p:cNvPr>
          <p:cNvSpPr/>
          <p:nvPr/>
        </p:nvSpPr>
        <p:spPr>
          <a:xfrm>
            <a:off x="6946900" y="88900"/>
            <a:ext cx="2006600" cy="419100"/>
          </a:xfrm>
          <a:prstGeom prst="rect">
            <a:avLst/>
          </a:prstGeom>
          <a:solidFill>
            <a:srgbClr val="0085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FEA3093-7A63-4B00-BEC0-EAD4A63A0A62}"/>
              </a:ext>
            </a:extLst>
          </p:cNvPr>
          <p:cNvSpPr txBox="1"/>
          <p:nvPr/>
        </p:nvSpPr>
        <p:spPr>
          <a:xfrm>
            <a:off x="6946900" y="88900"/>
            <a:ext cx="2006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800">
                <a:solidFill>
                  <a:srgbClr val="FFFFFF"/>
                </a:solidFill>
                <a:latin typeface="Calibri" panose="020F0502020204030204" pitchFamily="34" charset="0"/>
              </a:rPr>
              <a:t>Pos-Aud. / Pos-Pericia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FF81E38-501F-0D40-E7A9-79D1D7165E88}"/>
              </a:ext>
            </a:extLst>
          </p:cNvPr>
          <p:cNvSpPr txBox="1"/>
          <p:nvPr/>
        </p:nvSpPr>
        <p:spPr>
          <a:xfrm>
            <a:off x="368300" y="749300"/>
            <a:ext cx="840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i="1">
                <a:solidFill>
                  <a:srgbClr val="557789"/>
                </a:solidFill>
                <a:latin typeface="Calibri" panose="020F0502020204030204" pitchFamily="34" charset="0"/>
              </a:rPr>
              <a:t>Controle executivo dos resultados apos a realizacao de audiencias e pericias.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CDDBA83-B7E4-19FB-FC83-8DB7D3A5D8F7}"/>
              </a:ext>
            </a:extLst>
          </p:cNvPr>
          <p:cNvSpPr/>
          <p:nvPr/>
        </p:nvSpPr>
        <p:spPr>
          <a:xfrm>
            <a:off x="2540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3A248A3-8A1A-4F63-D88C-402DFB437FD3}"/>
              </a:ext>
            </a:extLst>
          </p:cNvPr>
          <p:cNvSpPr/>
          <p:nvPr/>
        </p:nvSpPr>
        <p:spPr>
          <a:xfrm>
            <a:off x="2540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29B2A59-5966-3739-5824-1FC74E8DE6A5}"/>
              </a:ext>
            </a:extLst>
          </p:cNvPr>
          <p:cNvSpPr/>
          <p:nvPr/>
        </p:nvSpPr>
        <p:spPr>
          <a:xfrm>
            <a:off x="3683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8FC3D92-B169-4E3A-85AD-9B4949808400}"/>
              </a:ext>
            </a:extLst>
          </p:cNvPr>
          <p:cNvSpPr txBox="1"/>
          <p:nvPr/>
        </p:nvSpPr>
        <p:spPr>
          <a:xfrm>
            <a:off x="3683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OK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6AEF059-6BAB-5B2D-9F32-41625E9D9544}"/>
              </a:ext>
            </a:extLst>
          </p:cNvPr>
          <p:cNvSpPr txBox="1"/>
          <p:nvPr/>
        </p:nvSpPr>
        <p:spPr>
          <a:xfrm>
            <a:off x="8509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Registro de resultado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B3D02F4-BC85-6F67-522E-7C7602B36A3D}"/>
              </a:ext>
            </a:extLst>
          </p:cNvPr>
          <p:cNvSpPr txBox="1"/>
          <p:nvPr/>
        </p:nvSpPr>
        <p:spPr>
          <a:xfrm>
            <a:off x="3429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Lancamento do resultado de cada audiencia ou pericia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B74FF4F-F784-B3C4-F103-C31EC73A943A}"/>
              </a:ext>
            </a:extLst>
          </p:cNvPr>
          <p:cNvSpPr/>
          <p:nvPr/>
        </p:nvSpPr>
        <p:spPr>
          <a:xfrm>
            <a:off x="32004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11AA13C-8A2C-73A4-C612-A35B40626006}"/>
              </a:ext>
            </a:extLst>
          </p:cNvPr>
          <p:cNvSpPr/>
          <p:nvPr/>
        </p:nvSpPr>
        <p:spPr>
          <a:xfrm>
            <a:off x="32004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ED1C8CEC-2E29-4343-765B-7A1705E54781}"/>
              </a:ext>
            </a:extLst>
          </p:cNvPr>
          <p:cNvSpPr/>
          <p:nvPr/>
        </p:nvSpPr>
        <p:spPr>
          <a:xfrm>
            <a:off x="33147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3C16999-194A-4A8B-8FE3-5C8DEB7F85EF}"/>
              </a:ext>
            </a:extLst>
          </p:cNvPr>
          <p:cNvSpPr txBox="1"/>
          <p:nvPr/>
        </p:nvSpPr>
        <p:spPr>
          <a:xfrm>
            <a:off x="33147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Frm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F24357E-46A7-F635-94B6-853994B99F8D}"/>
              </a:ext>
            </a:extLst>
          </p:cNvPr>
          <p:cNvSpPr txBox="1"/>
          <p:nvPr/>
        </p:nvSpPr>
        <p:spPr>
          <a:xfrm>
            <a:off x="37973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Campos especificos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8A8B53C-01E4-4F85-FFDA-DA3824008E6F}"/>
              </a:ext>
            </a:extLst>
          </p:cNvPr>
          <p:cNvSpPr txBox="1"/>
          <p:nvPr/>
        </p:nvSpPr>
        <p:spPr>
          <a:xfrm>
            <a:off x="32893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Formulario customizado separado para audiencia e pericia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FCED7D6-A9B6-B3F1-082A-2BD5D01F78A0}"/>
              </a:ext>
            </a:extLst>
          </p:cNvPr>
          <p:cNvSpPr/>
          <p:nvPr/>
        </p:nvSpPr>
        <p:spPr>
          <a:xfrm>
            <a:off x="61468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F24C718-4043-EF7B-BE7E-62B92B98AA28}"/>
              </a:ext>
            </a:extLst>
          </p:cNvPr>
          <p:cNvSpPr/>
          <p:nvPr/>
        </p:nvSpPr>
        <p:spPr>
          <a:xfrm>
            <a:off x="61468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DA0B1DE9-4C6B-9373-AA67-4D55866099A3}"/>
              </a:ext>
            </a:extLst>
          </p:cNvPr>
          <p:cNvSpPr/>
          <p:nvPr/>
        </p:nvSpPr>
        <p:spPr>
          <a:xfrm>
            <a:off x="62484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E314D19-57DA-F689-8D5D-8FA96873BFE2}"/>
              </a:ext>
            </a:extLst>
          </p:cNvPr>
          <p:cNvSpPr txBox="1"/>
          <p:nvPr/>
        </p:nvSpPr>
        <p:spPr>
          <a:xfrm>
            <a:off x="62484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Dir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733B4AA-AE6E-E3FB-4253-86F681F988F2}"/>
              </a:ext>
            </a:extLst>
          </p:cNvPr>
          <p:cNvSpPr txBox="1"/>
          <p:nvPr/>
        </p:nvSpPr>
        <p:spPr>
          <a:xfrm>
            <a:off x="67437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Controle diretoria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49F0BC1-9437-288B-6CA4-4BF1959D067D}"/>
              </a:ext>
            </a:extLst>
          </p:cNvPr>
          <p:cNvSpPr txBox="1"/>
          <p:nvPr/>
        </p:nvSpPr>
        <p:spPr>
          <a:xfrm>
            <a:off x="62357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Painel executivo exclusivo para acompanhamento gerencial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C39F1C3-CD2C-4929-A59B-C05B11CFDE7D}"/>
              </a:ext>
            </a:extLst>
          </p:cNvPr>
          <p:cNvSpPr/>
          <p:nvPr/>
        </p:nvSpPr>
        <p:spPr>
          <a:xfrm>
            <a:off x="2540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C603837-7C84-4310-A69B-C711B141686C}"/>
              </a:ext>
            </a:extLst>
          </p:cNvPr>
          <p:cNvSpPr/>
          <p:nvPr/>
        </p:nvSpPr>
        <p:spPr>
          <a:xfrm>
            <a:off x="2540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F6B2F0F-BBED-6547-13A2-CAA9CF1CABDA}"/>
              </a:ext>
            </a:extLst>
          </p:cNvPr>
          <p:cNvSpPr/>
          <p:nvPr/>
        </p:nvSpPr>
        <p:spPr>
          <a:xfrm>
            <a:off x="3683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2E098AB4-C1B7-109E-03BC-257832619B05}"/>
              </a:ext>
            </a:extLst>
          </p:cNvPr>
          <p:cNvSpPr txBox="1"/>
          <p:nvPr/>
        </p:nvSpPr>
        <p:spPr>
          <a:xfrm>
            <a:off x="3683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Lk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B024C58-985C-D4C9-2DC0-1B4E63169578}"/>
              </a:ext>
            </a:extLst>
          </p:cNvPr>
          <p:cNvSpPr txBox="1"/>
          <p:nvPr/>
        </p:nvSpPr>
        <p:spPr>
          <a:xfrm>
            <a:off x="8509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Acesso restrito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CF5C668-E735-5C58-F6F1-FB13DCE3F4EC}"/>
              </a:ext>
            </a:extLst>
          </p:cNvPr>
          <p:cNvSpPr txBox="1"/>
          <p:nvPr/>
        </p:nvSpPr>
        <p:spPr>
          <a:xfrm>
            <a:off x="3429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Modulo visivel apenas para perfis autorizados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BE62D142-BD08-41B8-001E-6F27AF1DA4B7}"/>
              </a:ext>
            </a:extLst>
          </p:cNvPr>
          <p:cNvSpPr/>
          <p:nvPr/>
        </p:nvSpPr>
        <p:spPr>
          <a:xfrm>
            <a:off x="32004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EFDF2980-7E82-4370-0A85-DF80C22A00BC}"/>
              </a:ext>
            </a:extLst>
          </p:cNvPr>
          <p:cNvSpPr/>
          <p:nvPr/>
        </p:nvSpPr>
        <p:spPr>
          <a:xfrm>
            <a:off x="32004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8C8BBCBC-BA71-E8E1-B5FC-DC51F0ACB107}"/>
              </a:ext>
            </a:extLst>
          </p:cNvPr>
          <p:cNvSpPr/>
          <p:nvPr/>
        </p:nvSpPr>
        <p:spPr>
          <a:xfrm>
            <a:off x="33147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A430EB8A-9D77-0EB8-3D25-4426F86031E1}"/>
              </a:ext>
            </a:extLst>
          </p:cNvPr>
          <p:cNvSpPr txBox="1"/>
          <p:nvPr/>
        </p:nvSpPr>
        <p:spPr>
          <a:xfrm>
            <a:off x="33147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Cal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4579EB2-662E-1556-0205-CCD2625A233B}"/>
              </a:ext>
            </a:extLst>
          </p:cNvPr>
          <p:cNvSpPr txBox="1"/>
          <p:nvPr/>
        </p:nvSpPr>
        <p:spPr>
          <a:xfrm>
            <a:off x="37973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Historico de registros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38B1247-0DCC-959D-1CC0-35F1E29831A8}"/>
              </a:ext>
            </a:extLst>
          </p:cNvPr>
          <p:cNvSpPr txBox="1"/>
          <p:nvPr/>
        </p:nvSpPr>
        <p:spPr>
          <a:xfrm>
            <a:off x="32893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Consulta de todos os registros com filtros de data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168902B4-3325-6D2E-BECC-A4C9F513EA91}"/>
              </a:ext>
            </a:extLst>
          </p:cNvPr>
          <p:cNvSpPr/>
          <p:nvPr/>
        </p:nvSpPr>
        <p:spPr>
          <a:xfrm>
            <a:off x="61468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53785CA7-43D5-6997-EE5A-75DBBF1134E4}"/>
              </a:ext>
            </a:extLst>
          </p:cNvPr>
          <p:cNvSpPr/>
          <p:nvPr/>
        </p:nvSpPr>
        <p:spPr>
          <a:xfrm>
            <a:off x="61468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6BA39994-8E24-7151-9FAA-3F1A7E5C42D2}"/>
              </a:ext>
            </a:extLst>
          </p:cNvPr>
          <p:cNvSpPr/>
          <p:nvPr/>
        </p:nvSpPr>
        <p:spPr>
          <a:xfrm>
            <a:off x="62484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0942ADE9-96A3-985A-4B3D-C9D1AB0CA677}"/>
              </a:ext>
            </a:extLst>
          </p:cNvPr>
          <p:cNvSpPr txBox="1"/>
          <p:nvPr/>
        </p:nvSpPr>
        <p:spPr>
          <a:xfrm>
            <a:off x="62484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Exp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58BF477C-894D-A149-1D48-ED66EA15D52A}"/>
              </a:ext>
            </a:extLst>
          </p:cNvPr>
          <p:cNvSpPr txBox="1"/>
          <p:nvPr/>
        </p:nvSpPr>
        <p:spPr>
          <a:xfrm>
            <a:off x="67437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Exportacao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92B3896-F607-F900-3B1E-56514C5C9D12}"/>
              </a:ext>
            </a:extLst>
          </p:cNvPr>
          <p:cNvSpPr txBox="1"/>
          <p:nvPr/>
        </p:nvSpPr>
        <p:spPr>
          <a:xfrm>
            <a:off x="62357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Exportacao dos dados para planilha Excel</a:t>
            </a:r>
          </a:p>
        </p:txBody>
      </p:sp>
    </p:spTree>
    <p:extLst>
      <p:ext uri="{BB962C8B-B14F-4D97-AF65-F5344CB8AC3E}">
        <p14:creationId xmlns:p14="http://schemas.microsoft.com/office/powerpoint/2010/main" val="2314769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6DAB5DC-B59C-A1ED-81A0-AF09813927B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0E8115-36F2-18E3-587F-465C3BFED607}"/>
              </a:ext>
            </a:extLst>
          </p:cNvPr>
          <p:cNvSpPr/>
          <p:nvPr/>
        </p:nvSpPr>
        <p:spPr>
          <a:xfrm>
            <a:off x="0" y="0"/>
            <a:ext cx="9144000" cy="6223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0A998C-D3B5-E8B6-FFDF-D8904597BA90}"/>
              </a:ext>
            </a:extLst>
          </p:cNvPr>
          <p:cNvSpPr txBox="1"/>
          <p:nvPr/>
        </p:nvSpPr>
        <p:spPr>
          <a:xfrm>
            <a:off x="279400" y="50800"/>
            <a:ext cx="640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FFFFFF"/>
                </a:solidFill>
                <a:latin typeface="Calibri" panose="020F0502020204030204" pitchFamily="34" charset="0"/>
              </a:rPr>
              <a:t>Painel Administrativo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FDDB2EF-736D-9BC2-702C-1B6AC7D7D5FC}"/>
              </a:ext>
            </a:extLst>
          </p:cNvPr>
          <p:cNvSpPr/>
          <p:nvPr/>
        </p:nvSpPr>
        <p:spPr>
          <a:xfrm>
            <a:off x="6946900" y="88900"/>
            <a:ext cx="2006600" cy="419100"/>
          </a:xfrm>
          <a:prstGeom prst="rect">
            <a:avLst/>
          </a:prstGeom>
          <a:solidFill>
            <a:srgbClr val="0085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6C7D60-6BA1-662C-E011-2DDA5807C9FB}"/>
              </a:ext>
            </a:extLst>
          </p:cNvPr>
          <p:cNvSpPr txBox="1"/>
          <p:nvPr/>
        </p:nvSpPr>
        <p:spPr>
          <a:xfrm>
            <a:off x="6946900" y="88900"/>
            <a:ext cx="2006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800">
                <a:solidFill>
                  <a:srgbClr val="FFFFFF"/>
                </a:solidFill>
                <a:latin typeface="Calibri" panose="020F0502020204030204" pitchFamily="34" charset="0"/>
              </a:rPr>
              <a:t>Admin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8ED0267-67FF-1AB7-5CA4-8B81F383FCF3}"/>
              </a:ext>
            </a:extLst>
          </p:cNvPr>
          <p:cNvSpPr txBox="1"/>
          <p:nvPr/>
        </p:nvSpPr>
        <p:spPr>
          <a:xfrm>
            <a:off x="368300" y="749300"/>
            <a:ext cx="840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i="1">
                <a:solidFill>
                  <a:srgbClr val="557789"/>
                </a:solidFill>
                <a:latin typeface="Calibri" panose="020F0502020204030204" pitchFamily="34" charset="0"/>
              </a:rPr>
              <a:t>Gestao centralizada de usuarios, senhas, perfis e grupos - exclusivo para o perfil Admin.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0AB8711-98C7-6317-5590-265D4F17D258}"/>
              </a:ext>
            </a:extLst>
          </p:cNvPr>
          <p:cNvSpPr/>
          <p:nvPr/>
        </p:nvSpPr>
        <p:spPr>
          <a:xfrm>
            <a:off x="2540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E5DA697-54EC-8A9A-731A-C34797A79B04}"/>
              </a:ext>
            </a:extLst>
          </p:cNvPr>
          <p:cNvSpPr/>
          <p:nvPr/>
        </p:nvSpPr>
        <p:spPr>
          <a:xfrm>
            <a:off x="2540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ADAF2B6-EC00-3D31-BB0C-41DC3820208E}"/>
              </a:ext>
            </a:extLst>
          </p:cNvPr>
          <p:cNvSpPr/>
          <p:nvPr/>
        </p:nvSpPr>
        <p:spPr>
          <a:xfrm>
            <a:off x="3683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E386ED7-C22A-7E7B-FB29-32990D7EC2FC}"/>
              </a:ext>
            </a:extLst>
          </p:cNvPr>
          <p:cNvSpPr txBox="1"/>
          <p:nvPr/>
        </p:nvSpPr>
        <p:spPr>
          <a:xfrm>
            <a:off x="3683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+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BCB975B-AA54-2294-8736-CFB7417312A9}"/>
              </a:ext>
            </a:extLst>
          </p:cNvPr>
          <p:cNvSpPr txBox="1"/>
          <p:nvPr/>
        </p:nvSpPr>
        <p:spPr>
          <a:xfrm>
            <a:off x="8509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Adicionar usuarios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9B898F4-EF8C-19AF-0362-455A973B9454}"/>
              </a:ext>
            </a:extLst>
          </p:cNvPr>
          <p:cNvSpPr txBox="1"/>
          <p:nvPr/>
        </p:nvSpPr>
        <p:spPr>
          <a:xfrm>
            <a:off x="3429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Cadastro com e-mail, senha, sigla e perfil de acesso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F62F9D3-FF15-8687-F32F-BA536AF3C32A}"/>
              </a:ext>
            </a:extLst>
          </p:cNvPr>
          <p:cNvSpPr/>
          <p:nvPr/>
        </p:nvSpPr>
        <p:spPr>
          <a:xfrm>
            <a:off x="32004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043C87B-A522-DD51-DBDB-439A32E56F56}"/>
              </a:ext>
            </a:extLst>
          </p:cNvPr>
          <p:cNvSpPr/>
          <p:nvPr/>
        </p:nvSpPr>
        <p:spPr>
          <a:xfrm>
            <a:off x="32004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EBD80FB6-AE38-9011-E9BC-2655BE5E1D58}"/>
              </a:ext>
            </a:extLst>
          </p:cNvPr>
          <p:cNvSpPr/>
          <p:nvPr/>
        </p:nvSpPr>
        <p:spPr>
          <a:xfrm>
            <a:off x="33147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B7F9642-CF2A-2F36-E8BA-B80083510A46}"/>
              </a:ext>
            </a:extLst>
          </p:cNvPr>
          <p:cNvSpPr txBox="1"/>
          <p:nvPr/>
        </p:nvSpPr>
        <p:spPr>
          <a:xfrm>
            <a:off x="33147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X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F0572A2-C3BD-E60A-6AD9-917082AD7ADB}"/>
              </a:ext>
            </a:extLst>
          </p:cNvPr>
          <p:cNvSpPr txBox="1"/>
          <p:nvPr/>
        </p:nvSpPr>
        <p:spPr>
          <a:xfrm>
            <a:off x="37973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Remover usuarios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DC34217-2A7E-D1AB-E8D9-EADE5FB12A6D}"/>
              </a:ext>
            </a:extLst>
          </p:cNvPr>
          <p:cNvSpPr txBox="1"/>
          <p:nvPr/>
        </p:nvSpPr>
        <p:spPr>
          <a:xfrm>
            <a:off x="32893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Exclusao sem impacto nos dados historicos do sistema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F075A52-55BB-2731-3886-550F9524D41D}"/>
              </a:ext>
            </a:extLst>
          </p:cNvPr>
          <p:cNvSpPr/>
          <p:nvPr/>
        </p:nvSpPr>
        <p:spPr>
          <a:xfrm>
            <a:off x="61468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525DBF2-5961-642B-CA89-B74EB5FCF5B1}"/>
              </a:ext>
            </a:extLst>
          </p:cNvPr>
          <p:cNvSpPr/>
          <p:nvPr/>
        </p:nvSpPr>
        <p:spPr>
          <a:xfrm>
            <a:off x="61468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7327A121-7ADE-E810-19AE-041818787638}"/>
              </a:ext>
            </a:extLst>
          </p:cNvPr>
          <p:cNvSpPr/>
          <p:nvPr/>
        </p:nvSpPr>
        <p:spPr>
          <a:xfrm>
            <a:off x="62484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EEC14F8-CFBA-1F3B-1DE7-031BCDCCB81B}"/>
              </a:ext>
            </a:extLst>
          </p:cNvPr>
          <p:cNvSpPr txBox="1"/>
          <p:nvPr/>
        </p:nvSpPr>
        <p:spPr>
          <a:xfrm>
            <a:off x="62484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Key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8755894-9F53-21B9-391B-8575E390D877}"/>
              </a:ext>
            </a:extLst>
          </p:cNvPr>
          <p:cNvSpPr txBox="1"/>
          <p:nvPr/>
        </p:nvSpPr>
        <p:spPr>
          <a:xfrm>
            <a:off x="67437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Redefinir senhas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F68B002-696B-51D2-1194-DDA2AE24BF96}"/>
              </a:ext>
            </a:extLst>
          </p:cNvPr>
          <p:cNvSpPr txBox="1"/>
          <p:nvPr/>
        </p:nvSpPr>
        <p:spPr>
          <a:xfrm>
            <a:off x="62357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Admin pode redefinir a senha de qualquer usuario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992E39B-9274-660A-11D7-ACF3C5FFE60F}"/>
              </a:ext>
            </a:extLst>
          </p:cNvPr>
          <p:cNvSpPr/>
          <p:nvPr/>
        </p:nvSpPr>
        <p:spPr>
          <a:xfrm>
            <a:off x="2540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2C71AF1-3FC5-B5CD-C6C1-E8D5FFF6E544}"/>
              </a:ext>
            </a:extLst>
          </p:cNvPr>
          <p:cNvSpPr/>
          <p:nvPr/>
        </p:nvSpPr>
        <p:spPr>
          <a:xfrm>
            <a:off x="2540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8E59943B-7ACA-D11C-55E3-7C56C7A77DEB}"/>
              </a:ext>
            </a:extLst>
          </p:cNvPr>
          <p:cNvSpPr/>
          <p:nvPr/>
        </p:nvSpPr>
        <p:spPr>
          <a:xfrm>
            <a:off x="3683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AD419D7-42C0-A853-87C5-37332140FF56}"/>
              </a:ext>
            </a:extLst>
          </p:cNvPr>
          <p:cNvSpPr txBox="1"/>
          <p:nvPr/>
        </p:nvSpPr>
        <p:spPr>
          <a:xfrm>
            <a:off x="3683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Grp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748EEB9-43D5-9484-5BCD-BBEAE7DC0203}"/>
              </a:ext>
            </a:extLst>
          </p:cNvPr>
          <p:cNvSpPr txBox="1"/>
          <p:nvPr/>
        </p:nvSpPr>
        <p:spPr>
          <a:xfrm>
            <a:off x="8509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Atribuir grupos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60AC8D3F-47E8-D3A7-0C66-E38AC001AEA4}"/>
              </a:ext>
            </a:extLst>
          </p:cNvPr>
          <p:cNvSpPr txBox="1"/>
          <p:nvPr/>
        </p:nvSpPr>
        <p:spPr>
          <a:xfrm>
            <a:off x="3429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Define quais grupos o editor pode visualizar e editar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8BD7CA30-0695-0BCC-4686-B789400ACC52}"/>
              </a:ext>
            </a:extLst>
          </p:cNvPr>
          <p:cNvSpPr/>
          <p:nvPr/>
        </p:nvSpPr>
        <p:spPr>
          <a:xfrm>
            <a:off x="32004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C044DDE-770D-FCD6-00B3-75EB5D87C43A}"/>
              </a:ext>
            </a:extLst>
          </p:cNvPr>
          <p:cNvSpPr/>
          <p:nvPr/>
        </p:nvSpPr>
        <p:spPr>
          <a:xfrm>
            <a:off x="32004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47DADD57-DBD7-06DB-C811-C2411EB9DB3C}"/>
              </a:ext>
            </a:extLst>
          </p:cNvPr>
          <p:cNvSpPr/>
          <p:nvPr/>
        </p:nvSpPr>
        <p:spPr>
          <a:xfrm>
            <a:off x="33147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E0215FE-00C8-A722-2426-A54038944B76}"/>
              </a:ext>
            </a:extLst>
          </p:cNvPr>
          <p:cNvSpPr txBox="1"/>
          <p:nvPr/>
        </p:nvSpPr>
        <p:spPr>
          <a:xfrm>
            <a:off x="33147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Log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DC139BB-0F08-EE26-9871-8C21BC4EFAE0}"/>
              </a:ext>
            </a:extLst>
          </p:cNvPr>
          <p:cNvSpPr txBox="1"/>
          <p:nvPr/>
        </p:nvSpPr>
        <p:spPr>
          <a:xfrm>
            <a:off x="37973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Log de auditoria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F8178FC8-35DF-9715-B227-09E036C63DE9}"/>
              </a:ext>
            </a:extLst>
          </p:cNvPr>
          <p:cNvSpPr txBox="1"/>
          <p:nvPr/>
        </p:nvSpPr>
        <p:spPr>
          <a:xfrm>
            <a:off x="32893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Historico de acoes: logins, edicoes, uploads e alteracoes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30B3C1BA-09F7-E03F-7219-56142493EC93}"/>
              </a:ext>
            </a:extLst>
          </p:cNvPr>
          <p:cNvSpPr/>
          <p:nvPr/>
        </p:nvSpPr>
        <p:spPr>
          <a:xfrm>
            <a:off x="61468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040CEFA9-4E9D-199B-EBE5-76139CEF00E4}"/>
              </a:ext>
            </a:extLst>
          </p:cNvPr>
          <p:cNvSpPr/>
          <p:nvPr/>
        </p:nvSpPr>
        <p:spPr>
          <a:xfrm>
            <a:off x="61468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C6E474CA-B395-AE03-C149-74D758063DE9}"/>
              </a:ext>
            </a:extLst>
          </p:cNvPr>
          <p:cNvSpPr/>
          <p:nvPr/>
        </p:nvSpPr>
        <p:spPr>
          <a:xfrm>
            <a:off x="62484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8FD0BE4B-EE5F-2208-A1EF-BA9F86D8CC33}"/>
              </a:ext>
            </a:extLst>
          </p:cNvPr>
          <p:cNvSpPr txBox="1"/>
          <p:nvPr/>
        </p:nvSpPr>
        <p:spPr>
          <a:xfrm>
            <a:off x="62484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Sig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1F2DC6E6-F21B-239F-C124-E1656CB49F9F}"/>
              </a:ext>
            </a:extLst>
          </p:cNvPr>
          <p:cNvSpPr txBox="1"/>
          <p:nvPr/>
        </p:nvSpPr>
        <p:spPr>
          <a:xfrm>
            <a:off x="67437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Siglas e perfis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3D8E85D-EC6C-DF02-4AF5-CC9F41D188A5}"/>
              </a:ext>
            </a:extLst>
          </p:cNvPr>
          <p:cNvSpPr txBox="1"/>
          <p:nvPr/>
        </p:nvSpPr>
        <p:spPr>
          <a:xfrm>
            <a:off x="62357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Configuracao de sigla e nivel de acesso por usuario</a:t>
            </a:r>
          </a:p>
        </p:txBody>
      </p:sp>
    </p:spTree>
    <p:extLst>
      <p:ext uri="{BB962C8B-B14F-4D97-AF65-F5344CB8AC3E}">
        <p14:creationId xmlns:p14="http://schemas.microsoft.com/office/powerpoint/2010/main" val="3262819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6C4D15E-964F-B1DC-D275-41AFF9D3C20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C4B2B66-E427-C084-B6F5-5256DB2D7F9B}"/>
              </a:ext>
            </a:extLst>
          </p:cNvPr>
          <p:cNvSpPr/>
          <p:nvPr/>
        </p:nvSpPr>
        <p:spPr>
          <a:xfrm>
            <a:off x="0" y="0"/>
            <a:ext cx="9144000" cy="6223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D254439-EC7C-DC5A-2143-C6549A56F5FB}"/>
              </a:ext>
            </a:extLst>
          </p:cNvPr>
          <p:cNvSpPr txBox="1"/>
          <p:nvPr/>
        </p:nvSpPr>
        <p:spPr>
          <a:xfrm>
            <a:off x="279400" y="50800"/>
            <a:ext cx="640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FFFFFF"/>
                </a:solidFill>
                <a:latin typeface="Calibri" panose="020F0502020204030204" pitchFamily="34" charset="0"/>
              </a:rPr>
              <a:t>Banco de Clientes e Links Uteis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2279A80-54BF-096C-2544-2E4A016DD5B3}"/>
              </a:ext>
            </a:extLst>
          </p:cNvPr>
          <p:cNvSpPr/>
          <p:nvPr/>
        </p:nvSpPr>
        <p:spPr>
          <a:xfrm>
            <a:off x="6946900" y="88900"/>
            <a:ext cx="2006600" cy="419100"/>
          </a:xfrm>
          <a:prstGeom prst="rect">
            <a:avLst/>
          </a:prstGeom>
          <a:solidFill>
            <a:srgbClr val="0085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CA0DEBD-D785-B642-2266-95406DF0D709}"/>
              </a:ext>
            </a:extLst>
          </p:cNvPr>
          <p:cNvSpPr txBox="1"/>
          <p:nvPr/>
        </p:nvSpPr>
        <p:spPr>
          <a:xfrm>
            <a:off x="6946900" y="88900"/>
            <a:ext cx="2006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800">
                <a:solidFill>
                  <a:srgbClr val="FFFFFF"/>
                </a:solidFill>
                <a:latin typeface="Calibri" panose="020F0502020204030204" pitchFamily="34" charset="0"/>
              </a:rPr>
              <a:t>Clientes / Links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4D62397-CC18-A48B-8AB8-62CB7A3D69A8}"/>
              </a:ext>
            </a:extLst>
          </p:cNvPr>
          <p:cNvSpPr txBox="1"/>
          <p:nvPr/>
        </p:nvSpPr>
        <p:spPr>
          <a:xfrm>
            <a:off x="368300" y="749300"/>
            <a:ext cx="840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i="1">
                <a:solidFill>
                  <a:srgbClr val="557789"/>
                </a:solidFill>
                <a:latin typeface="Calibri" panose="020F0502020204030204" pitchFamily="34" charset="0"/>
              </a:rPr>
              <a:t>Base de dados de clientes e atalhos para sistemas e recursos externos relevantes.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6515DBD-C643-BA99-D03F-8A5E4C5C8A89}"/>
              </a:ext>
            </a:extLst>
          </p:cNvPr>
          <p:cNvSpPr/>
          <p:nvPr/>
        </p:nvSpPr>
        <p:spPr>
          <a:xfrm>
            <a:off x="2540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584B4A1-9C74-9028-9E6B-FEACFA5976AC}"/>
              </a:ext>
            </a:extLst>
          </p:cNvPr>
          <p:cNvSpPr/>
          <p:nvPr/>
        </p:nvSpPr>
        <p:spPr>
          <a:xfrm>
            <a:off x="2540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ECF0A74-D674-D15A-6BB8-716B8EBDD987}"/>
              </a:ext>
            </a:extLst>
          </p:cNvPr>
          <p:cNvSpPr/>
          <p:nvPr/>
        </p:nvSpPr>
        <p:spPr>
          <a:xfrm>
            <a:off x="3683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434D409-BA4B-DEF1-C344-C199F9AD47DC}"/>
              </a:ext>
            </a:extLst>
          </p:cNvPr>
          <p:cNvSpPr txBox="1"/>
          <p:nvPr/>
        </p:nvSpPr>
        <p:spPr>
          <a:xfrm>
            <a:off x="3683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Cli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0812DFA-4C72-3B25-8B53-0AE81FF4BFCD}"/>
              </a:ext>
            </a:extLst>
          </p:cNvPr>
          <p:cNvSpPr txBox="1"/>
          <p:nvPr/>
        </p:nvSpPr>
        <p:spPr>
          <a:xfrm>
            <a:off x="8509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Banco de clientes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C2DB4F-DEF5-326A-CE92-7FCEBF1960ED}"/>
              </a:ext>
            </a:extLst>
          </p:cNvPr>
          <p:cNvSpPr txBox="1"/>
          <p:nvPr/>
        </p:nvSpPr>
        <p:spPr>
          <a:xfrm>
            <a:off x="3429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Cadastro centralizado de clientes da banca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B67890C-BA57-609F-175D-051AAC2A54DB}"/>
              </a:ext>
            </a:extLst>
          </p:cNvPr>
          <p:cNvSpPr/>
          <p:nvPr/>
        </p:nvSpPr>
        <p:spPr>
          <a:xfrm>
            <a:off x="32004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304B460-AEB1-F80F-20BB-438C80A53F7F}"/>
              </a:ext>
            </a:extLst>
          </p:cNvPr>
          <p:cNvSpPr/>
          <p:nvPr/>
        </p:nvSpPr>
        <p:spPr>
          <a:xfrm>
            <a:off x="32004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0CE8804C-F5F1-2F4E-0D84-42F68BF0BB04}"/>
              </a:ext>
            </a:extLst>
          </p:cNvPr>
          <p:cNvSpPr/>
          <p:nvPr/>
        </p:nvSpPr>
        <p:spPr>
          <a:xfrm>
            <a:off x="33147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BC899D1-F0DA-AB2D-DB49-6F1D17695FAA}"/>
              </a:ext>
            </a:extLst>
          </p:cNvPr>
          <p:cNvSpPr txBox="1"/>
          <p:nvPr/>
        </p:nvSpPr>
        <p:spPr>
          <a:xfrm>
            <a:off x="33147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Bsc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9EB73FB-0EC1-E8F5-99D7-0E3B98C862C3}"/>
              </a:ext>
            </a:extLst>
          </p:cNvPr>
          <p:cNvSpPr txBox="1"/>
          <p:nvPr/>
        </p:nvSpPr>
        <p:spPr>
          <a:xfrm>
            <a:off x="37973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Busca de clientes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441CD45-C85C-A565-A9BB-6AF2C07EEFAF}"/>
              </a:ext>
            </a:extLst>
          </p:cNvPr>
          <p:cNvSpPr txBox="1"/>
          <p:nvPr/>
        </p:nvSpPr>
        <p:spPr>
          <a:xfrm>
            <a:off x="32893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Pesquisa rapida por nome, CNPJ ou codigo do cliente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D0DF945-2151-3AB6-4E4F-BE23A6C41E5E}"/>
              </a:ext>
            </a:extLst>
          </p:cNvPr>
          <p:cNvSpPr/>
          <p:nvPr/>
        </p:nvSpPr>
        <p:spPr>
          <a:xfrm>
            <a:off x="61468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6273DF2-B073-4D0A-25D1-82782942A765}"/>
              </a:ext>
            </a:extLst>
          </p:cNvPr>
          <p:cNvSpPr/>
          <p:nvPr/>
        </p:nvSpPr>
        <p:spPr>
          <a:xfrm>
            <a:off x="61468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40E82F1-8EBA-E6AB-757A-3FC5AE34FA51}"/>
              </a:ext>
            </a:extLst>
          </p:cNvPr>
          <p:cNvSpPr/>
          <p:nvPr/>
        </p:nvSpPr>
        <p:spPr>
          <a:xfrm>
            <a:off x="62484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2A702E1-44F1-EFBC-6137-83852BDC795E}"/>
              </a:ext>
            </a:extLst>
          </p:cNvPr>
          <p:cNvSpPr txBox="1"/>
          <p:nvPr/>
        </p:nvSpPr>
        <p:spPr>
          <a:xfrm>
            <a:off x="62484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Lnk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7860DB1-02AA-1CDE-C911-40393BEA5B2A}"/>
              </a:ext>
            </a:extLst>
          </p:cNvPr>
          <p:cNvSpPr txBox="1"/>
          <p:nvPr/>
        </p:nvSpPr>
        <p:spPr>
          <a:xfrm>
            <a:off x="67437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Links uteis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44CC98E-C682-6E44-ADD8-707726CE6578}"/>
              </a:ext>
            </a:extLst>
          </p:cNvPr>
          <p:cNvSpPr txBox="1"/>
          <p:nvPr/>
        </p:nvSpPr>
        <p:spPr>
          <a:xfrm>
            <a:off x="62357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Atalhos para portais de tribunais e sistemas externos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7803F89-B578-BA55-792A-0A726013EC07}"/>
              </a:ext>
            </a:extLst>
          </p:cNvPr>
          <p:cNvSpPr/>
          <p:nvPr/>
        </p:nvSpPr>
        <p:spPr>
          <a:xfrm>
            <a:off x="2540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F972A15-868F-33A9-8F41-F3392BEF4F5B}"/>
              </a:ext>
            </a:extLst>
          </p:cNvPr>
          <p:cNvSpPr/>
          <p:nvPr/>
        </p:nvSpPr>
        <p:spPr>
          <a:xfrm>
            <a:off x="2540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1B1EDC23-E298-FF61-D0EC-907EBADF6C9A}"/>
              </a:ext>
            </a:extLst>
          </p:cNvPr>
          <p:cNvSpPr/>
          <p:nvPr/>
        </p:nvSpPr>
        <p:spPr>
          <a:xfrm>
            <a:off x="3683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3994176-AD2D-F0A4-103B-6AEEED263056}"/>
              </a:ext>
            </a:extLst>
          </p:cNvPr>
          <p:cNvSpPr txBox="1"/>
          <p:nvPr/>
        </p:nvSpPr>
        <p:spPr>
          <a:xfrm>
            <a:off x="3683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Go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BFC7F5D-1872-EBDA-1D7C-B91816467B91}"/>
              </a:ext>
            </a:extLst>
          </p:cNvPr>
          <p:cNvSpPr txBox="1"/>
          <p:nvPr/>
        </p:nvSpPr>
        <p:spPr>
          <a:xfrm>
            <a:off x="8509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Acesso em um clique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452FCB7-C1F7-D388-4F2F-5A0ABDAB75DE}"/>
              </a:ext>
            </a:extLst>
          </p:cNvPr>
          <p:cNvSpPr txBox="1"/>
          <p:nvPr/>
        </p:nvSpPr>
        <p:spPr>
          <a:xfrm>
            <a:off x="3429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Os sistemas mais usados pela equipe em um unico lugar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94713358-74EA-0650-D29D-DF77E3FE21A5}"/>
              </a:ext>
            </a:extLst>
          </p:cNvPr>
          <p:cNvSpPr/>
          <p:nvPr/>
        </p:nvSpPr>
        <p:spPr>
          <a:xfrm>
            <a:off x="32004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9FC87E3-693C-D297-378D-2EF1F2BFD03C}"/>
              </a:ext>
            </a:extLst>
          </p:cNvPr>
          <p:cNvSpPr/>
          <p:nvPr/>
        </p:nvSpPr>
        <p:spPr>
          <a:xfrm>
            <a:off x="32004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E1A1B0D9-1BD6-61FF-74E2-FC8D08668F65}"/>
              </a:ext>
            </a:extLst>
          </p:cNvPr>
          <p:cNvSpPr/>
          <p:nvPr/>
        </p:nvSpPr>
        <p:spPr>
          <a:xfrm>
            <a:off x="33147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E36430BE-D2C4-E672-8234-8588068103FB}"/>
              </a:ext>
            </a:extLst>
          </p:cNvPr>
          <p:cNvSpPr txBox="1"/>
          <p:nvPr/>
        </p:nvSpPr>
        <p:spPr>
          <a:xfrm>
            <a:off x="33147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Org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92F24C11-6BB6-A4B4-D031-9BCFD70569B2}"/>
              </a:ext>
            </a:extLst>
          </p:cNvPr>
          <p:cNvSpPr txBox="1"/>
          <p:nvPr/>
        </p:nvSpPr>
        <p:spPr>
          <a:xfrm>
            <a:off x="37973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Organizacao centralizada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E8DB46E-EA77-6E46-F8B8-2ED7D4CE52DE}"/>
              </a:ext>
            </a:extLst>
          </p:cNvPr>
          <p:cNvSpPr txBox="1"/>
          <p:nvPr/>
        </p:nvSpPr>
        <p:spPr>
          <a:xfrm>
            <a:off x="32893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Todos os links e dados relevantes centralizados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87C5119F-E803-EF2A-7230-33A6066107DC}"/>
              </a:ext>
            </a:extLst>
          </p:cNvPr>
          <p:cNvSpPr/>
          <p:nvPr/>
        </p:nvSpPr>
        <p:spPr>
          <a:xfrm>
            <a:off x="61468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A04B57C2-5404-6924-791A-C96E92C8CBA0}"/>
              </a:ext>
            </a:extLst>
          </p:cNvPr>
          <p:cNvSpPr/>
          <p:nvPr/>
        </p:nvSpPr>
        <p:spPr>
          <a:xfrm>
            <a:off x="61468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99799062-5617-8F96-ADDB-7291764BE10C}"/>
              </a:ext>
            </a:extLst>
          </p:cNvPr>
          <p:cNvSpPr/>
          <p:nvPr/>
        </p:nvSpPr>
        <p:spPr>
          <a:xfrm>
            <a:off x="62484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FDB5EABC-0FF5-3DDF-46F6-06119522CF41}"/>
              </a:ext>
            </a:extLst>
          </p:cNvPr>
          <p:cNvSpPr txBox="1"/>
          <p:nvPr/>
        </p:nvSpPr>
        <p:spPr>
          <a:xfrm>
            <a:off x="62484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Lk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A38876F-FC21-A46E-6CA6-952F2B7AE808}"/>
              </a:ext>
            </a:extLst>
          </p:cNvPr>
          <p:cNvSpPr txBox="1"/>
          <p:nvPr/>
        </p:nvSpPr>
        <p:spPr>
          <a:xfrm>
            <a:off x="67437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Acesso por perfil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CF840399-B845-662A-82C3-A357D1597FC4}"/>
              </a:ext>
            </a:extLst>
          </p:cNvPr>
          <p:cNvSpPr txBox="1"/>
          <p:nvPr/>
        </p:nvSpPr>
        <p:spPr>
          <a:xfrm>
            <a:off x="62357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Visibilidade dos recursos configuravel pelo admin</a:t>
            </a:r>
          </a:p>
        </p:txBody>
      </p:sp>
    </p:spTree>
    <p:extLst>
      <p:ext uri="{BB962C8B-B14F-4D97-AF65-F5344CB8AC3E}">
        <p14:creationId xmlns:p14="http://schemas.microsoft.com/office/powerpoint/2010/main" val="2521410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36D4667-EDA0-BD57-6E6B-F28E8BE859A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5A0678C-416E-E15F-33ED-9DEB93C2D12B}"/>
              </a:ext>
            </a:extLst>
          </p:cNvPr>
          <p:cNvSpPr/>
          <p:nvPr/>
        </p:nvSpPr>
        <p:spPr>
          <a:xfrm>
            <a:off x="0" y="0"/>
            <a:ext cx="9144000" cy="6223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0169FA1-9A74-F670-7E9F-367B62EF0971}"/>
              </a:ext>
            </a:extLst>
          </p:cNvPr>
          <p:cNvSpPr txBox="1"/>
          <p:nvPr/>
        </p:nvSpPr>
        <p:spPr>
          <a:xfrm>
            <a:off x="279400" y="50800"/>
            <a:ext cx="640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FFFFFF"/>
                </a:solidFill>
                <a:latin typeface="Calibri" panose="020F0502020204030204" pitchFamily="34" charset="0"/>
              </a:rPr>
              <a:t>Acesso e Seguranca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E42D240-75DF-E64D-70A3-CA6CEE9792AE}"/>
              </a:ext>
            </a:extLst>
          </p:cNvPr>
          <p:cNvSpPr txBox="1"/>
          <p:nvPr/>
        </p:nvSpPr>
        <p:spPr>
          <a:xfrm>
            <a:off x="368300" y="749300"/>
            <a:ext cx="840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>
                <a:solidFill>
                  <a:srgbClr val="1A2E3B"/>
                </a:solidFill>
                <a:latin typeface="Calibri" panose="020F0502020204030204" pitchFamily="34" charset="0"/>
              </a:rPr>
              <a:t>Autenticacao por e-mail e senha com controle de sessao e auditoria completa de cada acao no sistema.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4A07498-223D-28DF-5B54-C0489BB3BA35}"/>
              </a:ext>
            </a:extLst>
          </p:cNvPr>
          <p:cNvSpPr/>
          <p:nvPr/>
        </p:nvSpPr>
        <p:spPr>
          <a:xfrm>
            <a:off x="2540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09DCDCE-7ED9-7B0E-8447-9A4BB0E2122C}"/>
              </a:ext>
            </a:extLst>
          </p:cNvPr>
          <p:cNvSpPr/>
          <p:nvPr/>
        </p:nvSpPr>
        <p:spPr>
          <a:xfrm>
            <a:off x="2540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8610B4F-8992-79F9-524E-00AB600DF84E}"/>
              </a:ext>
            </a:extLst>
          </p:cNvPr>
          <p:cNvSpPr/>
          <p:nvPr/>
        </p:nvSpPr>
        <p:spPr>
          <a:xfrm>
            <a:off x="3683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17ED982-6B03-7B5A-B055-F9B5F13CCB91}"/>
              </a:ext>
            </a:extLst>
          </p:cNvPr>
          <p:cNvSpPr txBox="1"/>
          <p:nvPr/>
        </p:nvSpPr>
        <p:spPr>
          <a:xfrm>
            <a:off x="3683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Log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31FC705-CD19-DE3F-7EBD-D94E0B919E79}"/>
              </a:ext>
            </a:extLst>
          </p:cNvPr>
          <p:cNvSpPr txBox="1"/>
          <p:nvPr/>
        </p:nvSpPr>
        <p:spPr>
          <a:xfrm>
            <a:off x="8509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Login por e-mail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B4A4A06-5E05-E068-38D6-3D24A8D100A8}"/>
              </a:ext>
            </a:extLst>
          </p:cNvPr>
          <p:cNvSpPr txBox="1"/>
          <p:nvPr/>
        </p:nvSpPr>
        <p:spPr>
          <a:xfrm>
            <a:off x="3429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Autenticacao com e-mail corporativo e senha individual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5F4DE87-2AEA-5577-35B7-23EC741A7FE0}"/>
              </a:ext>
            </a:extLst>
          </p:cNvPr>
          <p:cNvSpPr/>
          <p:nvPr/>
        </p:nvSpPr>
        <p:spPr>
          <a:xfrm>
            <a:off x="32004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A12886C-339A-211E-C517-1FDF1973E9A5}"/>
              </a:ext>
            </a:extLst>
          </p:cNvPr>
          <p:cNvSpPr/>
          <p:nvPr/>
        </p:nvSpPr>
        <p:spPr>
          <a:xfrm>
            <a:off x="32004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2875AD6F-5A84-2474-29F4-A1C8B306AAEB}"/>
              </a:ext>
            </a:extLst>
          </p:cNvPr>
          <p:cNvSpPr/>
          <p:nvPr/>
        </p:nvSpPr>
        <p:spPr>
          <a:xfrm>
            <a:off x="33147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7EF71F9-8287-9CCA-0082-CB7A518907EB}"/>
              </a:ext>
            </a:extLst>
          </p:cNvPr>
          <p:cNvSpPr txBox="1"/>
          <p:nvPr/>
        </p:nvSpPr>
        <p:spPr>
          <a:xfrm>
            <a:off x="33147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Ses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853A04-D0D6-A707-5361-3D4411ACCEF5}"/>
              </a:ext>
            </a:extLst>
          </p:cNvPr>
          <p:cNvSpPr txBox="1"/>
          <p:nvPr/>
        </p:nvSpPr>
        <p:spPr>
          <a:xfrm>
            <a:off x="37973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Lembrar acesso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9ACDC54-20C8-022D-1D7C-4BDB6463E5E3}"/>
              </a:ext>
            </a:extLst>
          </p:cNvPr>
          <p:cNvSpPr txBox="1"/>
          <p:nvPr/>
        </p:nvSpPr>
        <p:spPr>
          <a:xfrm>
            <a:off x="32893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Opcao de manter sessao ativa no dispositivo do usuario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78F301D-2145-7C88-D540-D941CE50A685}"/>
              </a:ext>
            </a:extLst>
          </p:cNvPr>
          <p:cNvSpPr/>
          <p:nvPr/>
        </p:nvSpPr>
        <p:spPr>
          <a:xfrm>
            <a:off x="6146800" y="12954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15D8885-7226-155D-F29B-1487C5460582}"/>
              </a:ext>
            </a:extLst>
          </p:cNvPr>
          <p:cNvSpPr/>
          <p:nvPr/>
        </p:nvSpPr>
        <p:spPr>
          <a:xfrm>
            <a:off x="6146800" y="12954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53411D75-7A83-D420-3928-C571CC92EDF8}"/>
              </a:ext>
            </a:extLst>
          </p:cNvPr>
          <p:cNvSpPr/>
          <p:nvPr/>
        </p:nvSpPr>
        <p:spPr>
          <a:xfrm>
            <a:off x="6248400" y="1435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F2848D6-E199-93DD-BEE2-3EFBCFC3500B}"/>
              </a:ext>
            </a:extLst>
          </p:cNvPr>
          <p:cNvSpPr txBox="1"/>
          <p:nvPr/>
        </p:nvSpPr>
        <p:spPr>
          <a:xfrm>
            <a:off x="6248400" y="1435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Prf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9F0B1F0-E521-9D6A-0D2D-328A5311B4B2}"/>
              </a:ext>
            </a:extLst>
          </p:cNvPr>
          <p:cNvSpPr txBox="1"/>
          <p:nvPr/>
        </p:nvSpPr>
        <p:spPr>
          <a:xfrm>
            <a:off x="6743700" y="13843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Controle por perfil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60AE044-2967-4E5B-B059-29FCF8001D86}"/>
              </a:ext>
            </a:extLst>
          </p:cNvPr>
          <p:cNvSpPr txBox="1"/>
          <p:nvPr/>
        </p:nvSpPr>
        <p:spPr>
          <a:xfrm>
            <a:off x="6235700" y="1981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Cada usuario ve e edita apenas o que seu perfil permite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C51E2E0-3836-9ACF-E6B3-BFD74B52FBC5}"/>
              </a:ext>
            </a:extLst>
          </p:cNvPr>
          <p:cNvSpPr/>
          <p:nvPr/>
        </p:nvSpPr>
        <p:spPr>
          <a:xfrm>
            <a:off x="2540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DA8DBAA-E31B-FDBE-4253-9F744F141C8A}"/>
              </a:ext>
            </a:extLst>
          </p:cNvPr>
          <p:cNvSpPr/>
          <p:nvPr/>
        </p:nvSpPr>
        <p:spPr>
          <a:xfrm>
            <a:off x="2540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C0B9E022-2E7A-0F8F-D8C3-7EEB274E15DD}"/>
              </a:ext>
            </a:extLst>
          </p:cNvPr>
          <p:cNvSpPr/>
          <p:nvPr/>
        </p:nvSpPr>
        <p:spPr>
          <a:xfrm>
            <a:off x="3683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C378E86-4821-D08E-5A6F-8D9E0FEDFBB0}"/>
              </a:ext>
            </a:extLst>
          </p:cNvPr>
          <p:cNvSpPr txBox="1"/>
          <p:nvPr/>
        </p:nvSpPr>
        <p:spPr>
          <a:xfrm>
            <a:off x="3683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Aud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7F999FF-6289-FFDF-E324-8CB9E518F47F}"/>
              </a:ext>
            </a:extLst>
          </p:cNvPr>
          <p:cNvSpPr txBox="1"/>
          <p:nvPr/>
        </p:nvSpPr>
        <p:spPr>
          <a:xfrm>
            <a:off x="8509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Auditoria completa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7532574-926D-EDE0-AFE1-504DD8EF75C1}"/>
              </a:ext>
            </a:extLst>
          </p:cNvPr>
          <p:cNvSpPr txBox="1"/>
          <p:nvPr/>
        </p:nvSpPr>
        <p:spPr>
          <a:xfrm>
            <a:off x="3429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Cada acao (login, edicao, upload) registrada com data/hora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9155F68-321C-C3EE-E0D7-E3E96B988D92}"/>
              </a:ext>
            </a:extLst>
          </p:cNvPr>
          <p:cNvSpPr/>
          <p:nvPr/>
        </p:nvSpPr>
        <p:spPr>
          <a:xfrm>
            <a:off x="32004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376A8B3F-18E8-E0E0-58B2-778B3126DB25}"/>
              </a:ext>
            </a:extLst>
          </p:cNvPr>
          <p:cNvSpPr/>
          <p:nvPr/>
        </p:nvSpPr>
        <p:spPr>
          <a:xfrm>
            <a:off x="32004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96A0DB1A-4452-C6FC-C7D3-0C745CE76ACE}"/>
              </a:ext>
            </a:extLst>
          </p:cNvPr>
          <p:cNvSpPr/>
          <p:nvPr/>
        </p:nvSpPr>
        <p:spPr>
          <a:xfrm>
            <a:off x="33147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FE204E3-38C2-5372-E4FC-DBB38BC2A295}"/>
              </a:ext>
            </a:extLst>
          </p:cNvPr>
          <p:cNvSpPr txBox="1"/>
          <p:nvPr/>
        </p:nvSpPr>
        <p:spPr>
          <a:xfrm>
            <a:off x="33147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Key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BD5A372-65B8-E103-E8A9-82C4B6E094CD}"/>
              </a:ext>
            </a:extLst>
          </p:cNvPr>
          <p:cNvSpPr txBox="1"/>
          <p:nvPr/>
        </p:nvSpPr>
        <p:spPr>
          <a:xfrm>
            <a:off x="37973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Troca de senha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18644EC5-DE49-7C19-2BDA-091B68598301}"/>
              </a:ext>
            </a:extLst>
          </p:cNvPr>
          <p:cNvSpPr txBox="1"/>
          <p:nvPr/>
        </p:nvSpPr>
        <p:spPr>
          <a:xfrm>
            <a:off x="32893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Usuario altera a propria senha; Admin pode redefinir qualquer uma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B1782146-C20D-8659-37A4-8D67AA529872}"/>
              </a:ext>
            </a:extLst>
          </p:cNvPr>
          <p:cNvSpPr/>
          <p:nvPr/>
        </p:nvSpPr>
        <p:spPr>
          <a:xfrm>
            <a:off x="6146800" y="3086100"/>
            <a:ext cx="2794000" cy="1663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BA4C0742-E1E6-CAB8-726C-025CD24F0950}"/>
              </a:ext>
            </a:extLst>
          </p:cNvPr>
          <p:cNvSpPr/>
          <p:nvPr/>
        </p:nvSpPr>
        <p:spPr>
          <a:xfrm>
            <a:off x="6146800" y="3086100"/>
            <a:ext cx="279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47A14BA0-8809-DC24-6575-8B33918DB7D6}"/>
              </a:ext>
            </a:extLst>
          </p:cNvPr>
          <p:cNvSpPr/>
          <p:nvPr/>
        </p:nvSpPr>
        <p:spPr>
          <a:xfrm>
            <a:off x="6248400" y="3213100"/>
            <a:ext cx="419100" cy="4191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D2BADA9-AE3E-A779-8F30-411EE004F655}"/>
              </a:ext>
            </a:extLst>
          </p:cNvPr>
          <p:cNvSpPr txBox="1"/>
          <p:nvPr/>
        </p:nvSpPr>
        <p:spPr>
          <a:xfrm>
            <a:off x="6248400" y="3213100"/>
            <a:ext cx="419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Rst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E133E375-2275-0240-AF04-0206844E21C6}"/>
              </a:ext>
            </a:extLst>
          </p:cNvPr>
          <p:cNvSpPr txBox="1"/>
          <p:nvPr/>
        </p:nvSpPr>
        <p:spPr>
          <a:xfrm>
            <a:off x="6743700" y="3175000"/>
            <a:ext cx="207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03B5C"/>
                </a:solidFill>
                <a:latin typeface="Calibri" panose="020F0502020204030204" pitchFamily="34" charset="0"/>
              </a:rPr>
              <a:t>Acesso restrito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8977653-23D6-0BC7-0E88-62864B95C3DE}"/>
              </a:ext>
            </a:extLst>
          </p:cNvPr>
          <p:cNvSpPr txBox="1"/>
          <p:nvPr/>
        </p:nvSpPr>
        <p:spPr>
          <a:xfrm>
            <a:off x="6235700" y="37592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57789"/>
                </a:solidFill>
                <a:latin typeface="Calibri" panose="020F0502020204030204" pitchFamily="34" charset="0"/>
              </a:rPr>
              <a:t>Modulos sensiveis (Admin, Historico) apenas para autorizados</a:t>
            </a:r>
          </a:p>
        </p:txBody>
      </p:sp>
    </p:spTree>
    <p:extLst>
      <p:ext uri="{BB962C8B-B14F-4D97-AF65-F5344CB8AC3E}">
        <p14:creationId xmlns:p14="http://schemas.microsoft.com/office/powerpoint/2010/main" val="2444005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83F8B6C-D9C6-4803-BCA9-3E83AF2C368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BBA740E-4C34-15F2-6D87-01414378C0D2}"/>
              </a:ext>
            </a:extLst>
          </p:cNvPr>
          <p:cNvSpPr/>
          <p:nvPr/>
        </p:nvSpPr>
        <p:spPr>
          <a:xfrm>
            <a:off x="0" y="0"/>
            <a:ext cx="127000" cy="51435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DE3E080-4190-A2B4-0DF2-61B03C072B8C}"/>
              </a:ext>
            </a:extLst>
          </p:cNvPr>
          <p:cNvSpPr/>
          <p:nvPr/>
        </p:nvSpPr>
        <p:spPr>
          <a:xfrm>
            <a:off x="6578600" y="-368300"/>
            <a:ext cx="3200400" cy="3200400"/>
          </a:xfrm>
          <a:prstGeom prst="ellipse">
            <a:avLst/>
          </a:prstGeom>
          <a:solidFill>
            <a:srgbClr val="00AEEF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D5CAE6A-875A-4308-24B3-6335A412BF6E}"/>
              </a:ext>
            </a:extLst>
          </p:cNvPr>
          <p:cNvSpPr/>
          <p:nvPr/>
        </p:nvSpPr>
        <p:spPr>
          <a:xfrm>
            <a:off x="7315200" y="2463800"/>
            <a:ext cx="2006600" cy="2006600"/>
          </a:xfrm>
          <a:prstGeom prst="ellipse">
            <a:avLst/>
          </a:prstGeom>
          <a:solidFill>
            <a:srgbClr val="00AEEF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5C806F7-E366-49E6-CD00-CF9CBB61C46A}"/>
              </a:ext>
            </a:extLst>
          </p:cNvPr>
          <p:cNvSpPr txBox="1"/>
          <p:nvPr/>
        </p:nvSpPr>
        <p:spPr>
          <a:xfrm>
            <a:off x="508000" y="342900"/>
            <a:ext cx="777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400" b="1">
                <a:solidFill>
                  <a:srgbClr val="FFFFFF"/>
                </a:solidFill>
                <a:latin typeface="Calibri" panose="020F0502020204030204" pitchFamily="34" charset="0"/>
              </a:rPr>
              <a:t>Como Comecar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88C657-CFE5-A392-2E34-F09DB4551FBA}"/>
              </a:ext>
            </a:extLst>
          </p:cNvPr>
          <p:cNvSpPr txBox="1"/>
          <p:nvPr/>
        </p:nvSpPr>
        <p:spPr>
          <a:xfrm>
            <a:off x="508000" y="1079500"/>
            <a:ext cx="7772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 i="1">
                <a:solidFill>
                  <a:srgbClr val="A0CFEA"/>
                </a:solidFill>
                <a:latin typeface="Calibri" panose="020F0502020204030204" pitchFamily="34" charset="0"/>
              </a:rPr>
              <a:t>Siga os passos abaixo para acessar o sistema pela primeira vez: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1885076-7AAD-9840-88C2-001925CE7B5A}"/>
              </a:ext>
            </a:extLst>
          </p:cNvPr>
          <p:cNvSpPr/>
          <p:nvPr/>
        </p:nvSpPr>
        <p:spPr>
          <a:xfrm>
            <a:off x="508000" y="1663700"/>
            <a:ext cx="533400" cy="5334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8C304DA-1CAA-B538-3C77-01A9ABBC0FA3}"/>
              </a:ext>
            </a:extLst>
          </p:cNvPr>
          <p:cNvSpPr txBox="1"/>
          <p:nvPr/>
        </p:nvSpPr>
        <p:spPr>
          <a:xfrm>
            <a:off x="508000" y="1663700"/>
            <a:ext cx="533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5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BACB2C-A892-F42E-270A-00F9D53F7FBD}"/>
              </a:ext>
            </a:extLst>
          </p:cNvPr>
          <p:cNvSpPr txBox="1"/>
          <p:nvPr/>
        </p:nvSpPr>
        <p:spPr>
          <a:xfrm>
            <a:off x="1168400" y="1663700"/>
            <a:ext cx="6578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 b="1">
                <a:solidFill>
                  <a:srgbClr val="FFFFFF"/>
                </a:solidFill>
                <a:latin typeface="Calibri" panose="020F0502020204030204" pitchFamily="34" charset="0"/>
              </a:rPr>
              <a:t>Abra o arquivo index.html no navegador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13AD312-A826-0D2E-0E52-2261CDCB06A0}"/>
              </a:ext>
            </a:extLst>
          </p:cNvPr>
          <p:cNvSpPr txBox="1"/>
          <p:nvPr/>
        </p:nvSpPr>
        <p:spPr>
          <a:xfrm>
            <a:off x="1168400" y="2032000"/>
            <a:ext cx="657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7EB8D4"/>
                </a:solidFill>
                <a:latin typeface="Calibri" panose="020F0502020204030204" pitchFamily="34" charset="0"/>
              </a:rPr>
              <a:t>Compativel com Chrome, Edge e Firefox - sem instalacao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085DD26-3853-3014-D10A-38B9388981A5}"/>
              </a:ext>
            </a:extLst>
          </p:cNvPr>
          <p:cNvSpPr/>
          <p:nvPr/>
        </p:nvSpPr>
        <p:spPr>
          <a:xfrm>
            <a:off x="508000" y="2463800"/>
            <a:ext cx="533400" cy="5334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3576102-479F-5E94-160B-7887379E5313}"/>
              </a:ext>
            </a:extLst>
          </p:cNvPr>
          <p:cNvSpPr txBox="1"/>
          <p:nvPr/>
        </p:nvSpPr>
        <p:spPr>
          <a:xfrm>
            <a:off x="508000" y="2463800"/>
            <a:ext cx="533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5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73E3B79-074C-4699-CBCD-ADFD97AC35D5}"/>
              </a:ext>
            </a:extLst>
          </p:cNvPr>
          <p:cNvSpPr txBox="1"/>
          <p:nvPr/>
        </p:nvSpPr>
        <p:spPr>
          <a:xfrm>
            <a:off x="1168400" y="2463800"/>
            <a:ext cx="6578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 b="1">
                <a:solidFill>
                  <a:srgbClr val="FFFFFF"/>
                </a:solidFill>
                <a:latin typeface="Calibri" panose="020F0502020204030204" pitchFamily="34" charset="0"/>
              </a:rPr>
              <a:t>Use seu e-mail corporativo como login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2925B17-B022-70D7-EE56-200EC5D8DD5D}"/>
              </a:ext>
            </a:extLst>
          </p:cNvPr>
          <p:cNvSpPr txBox="1"/>
          <p:nvPr/>
        </p:nvSpPr>
        <p:spPr>
          <a:xfrm>
            <a:off x="1168400" y="2832100"/>
            <a:ext cx="657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100">
                <a:solidFill>
                  <a:srgbClr val="7EB8D4"/>
                </a:solidFill>
                <a:latin typeface="Calibri" panose="020F0502020204030204" pitchFamily="34" charset="0"/>
              </a:rPr>
              <a:t>Formato: nome.sobrenome@peixotoecury.com.br</a:t>
            </a:r>
            <a:endParaRPr lang="pt-BR" sz="1100">
              <a:solidFill>
                <a:srgbClr val="7EB8D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1BD992C-25A8-AAF6-F1E4-39041E932E18}"/>
              </a:ext>
            </a:extLst>
          </p:cNvPr>
          <p:cNvSpPr/>
          <p:nvPr/>
        </p:nvSpPr>
        <p:spPr>
          <a:xfrm>
            <a:off x="508000" y="3276600"/>
            <a:ext cx="533400" cy="5334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21EC8F2-D444-F4DE-EF04-588AA2E53EF3}"/>
              </a:ext>
            </a:extLst>
          </p:cNvPr>
          <p:cNvSpPr txBox="1"/>
          <p:nvPr/>
        </p:nvSpPr>
        <p:spPr>
          <a:xfrm>
            <a:off x="508000" y="3276600"/>
            <a:ext cx="533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5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A5E9FA4-024A-8121-1AE8-C7A06219D7EB}"/>
              </a:ext>
            </a:extLst>
          </p:cNvPr>
          <p:cNvSpPr txBox="1"/>
          <p:nvPr/>
        </p:nvSpPr>
        <p:spPr>
          <a:xfrm>
            <a:off x="1168400" y="3276600"/>
            <a:ext cx="6578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 b="1">
                <a:solidFill>
                  <a:srgbClr val="FFFFFF"/>
                </a:solidFill>
                <a:latin typeface="Calibri" panose="020F0502020204030204" pitchFamily="34" charset="0"/>
              </a:rPr>
              <a:t>Senha inicial: 123456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6FDC6F2-8EBB-858C-CC6F-5963068CF131}"/>
              </a:ext>
            </a:extLst>
          </p:cNvPr>
          <p:cNvSpPr txBox="1"/>
          <p:nvPr/>
        </p:nvSpPr>
        <p:spPr>
          <a:xfrm>
            <a:off x="1168400" y="3644900"/>
            <a:ext cx="657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7EB8D4"/>
                </a:solidFill>
                <a:latin typeface="Calibri" panose="020F0502020204030204" pitchFamily="34" charset="0"/>
              </a:rPr>
              <a:t>Altere sua senha apos o primeiro acesso nas Configuracoes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FAA37EC5-A20A-BCD4-445B-00839831E8B3}"/>
              </a:ext>
            </a:extLst>
          </p:cNvPr>
          <p:cNvSpPr/>
          <p:nvPr/>
        </p:nvSpPr>
        <p:spPr>
          <a:xfrm>
            <a:off x="508000" y="4076700"/>
            <a:ext cx="533400" cy="5334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92DB76E-AAE3-3F21-00D0-71EFF78728F9}"/>
              </a:ext>
            </a:extLst>
          </p:cNvPr>
          <p:cNvSpPr txBox="1"/>
          <p:nvPr/>
        </p:nvSpPr>
        <p:spPr>
          <a:xfrm>
            <a:off x="508000" y="4076700"/>
            <a:ext cx="533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5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B900112-B835-4EAD-FDA2-B90D8DB433D8}"/>
              </a:ext>
            </a:extLst>
          </p:cNvPr>
          <p:cNvSpPr txBox="1"/>
          <p:nvPr/>
        </p:nvSpPr>
        <p:spPr>
          <a:xfrm>
            <a:off x="1168400" y="4076700"/>
            <a:ext cx="6578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 b="1">
                <a:solidFill>
                  <a:srgbClr val="FFFFFF"/>
                </a:solidFill>
                <a:latin typeface="Calibri" panose="020F0502020204030204" pitchFamily="34" charset="0"/>
              </a:rPr>
              <a:t>Administrador geral: admin / Admin@2026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556ADA0-6905-6E35-D484-0E8CDDA38865}"/>
              </a:ext>
            </a:extLst>
          </p:cNvPr>
          <p:cNvSpPr txBox="1"/>
          <p:nvPr/>
        </p:nvSpPr>
        <p:spPr>
          <a:xfrm>
            <a:off x="1168400" y="4445000"/>
            <a:ext cx="657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7EB8D4"/>
                </a:solidFill>
                <a:latin typeface="Calibri" panose="020F0502020204030204" pitchFamily="34" charset="0"/>
              </a:rPr>
              <a:t>Use para configuracoes, gestao de usuarios e grupos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A22B0BB-22E9-80CC-2C32-C6AA1193181B}"/>
              </a:ext>
            </a:extLst>
          </p:cNvPr>
          <p:cNvSpPr txBox="1"/>
          <p:nvPr/>
        </p:nvSpPr>
        <p:spPr>
          <a:xfrm>
            <a:off x="508000" y="4699000"/>
            <a:ext cx="822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>
                <a:solidFill>
                  <a:srgbClr val="4A7A99"/>
                </a:solidFill>
                <a:latin typeface="Calibri" panose="020F0502020204030204" pitchFamily="34" charset="0"/>
              </a:rPr>
              <a:t>Duvidas? Contate o administrador do sistema  |  Peixoto e Cury Advogados - Controladoria 2026</a:t>
            </a:r>
          </a:p>
        </p:txBody>
      </p:sp>
    </p:spTree>
    <p:extLst>
      <p:ext uri="{BB962C8B-B14F-4D97-AF65-F5344CB8AC3E}">
        <p14:creationId xmlns:p14="http://schemas.microsoft.com/office/powerpoint/2010/main" val="22622431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1193</Words>
  <Application>Microsoft Office PowerPoint</Application>
  <PresentationFormat>Personalizar</PresentationFormat>
  <Paragraphs>261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Carolina Martini | Peixoto &amp; Cury</dc:creator>
  <cp:lastModifiedBy>Ana Carolina Martini | Peixoto &amp; Cury</cp:lastModifiedBy>
  <cp:revision>1</cp:revision>
  <dcterms:created xsi:type="dcterms:W3CDTF">2026-05-22T12:55:20Z</dcterms:created>
  <dcterms:modified xsi:type="dcterms:W3CDTF">2026-05-22T12:55:41Z</dcterms:modified>
</cp:coreProperties>
</file>