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1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D9E0A-C249-0A1F-2A44-2C2B88E29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B98E38-4247-CBC2-6A77-AE98E98B0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737E4E-E2A6-8825-21D9-DCC41239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B27673-648F-DEDD-2380-67B650EF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D0935A-A2F5-754A-214E-556056AF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29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81518-13BA-0A1C-A0B2-F7D0C27F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3360A5-FD0B-7474-88C8-17A206FB2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72DEC8-ED20-28CF-FF68-82CE8F51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63C00-C56C-1CE8-AD3E-D8127A82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E20293-B5C2-049F-526E-3FC66CFF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6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712E0-FFC0-F3CD-42C8-0A8B76E2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254B19-B451-15FB-7364-B255B202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84B1F3-92F6-E0BA-CD7E-D832C5F81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6DC545-370D-ACFC-258C-5D17C51C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B98104-2A20-56CA-1A91-5A04E3823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0680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4F0FD-F47B-B905-12E9-5D0BE5E5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A86CB4-197E-FAC7-1C41-1D47356AE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0EB2C9-C40B-007F-C7A8-8E206AB55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D6B30E-5D52-9082-3BFB-1B1FF611D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DAEACC-1072-3CDC-09D8-FE28D75B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4A42DF-35F6-4641-977F-90DAFC1A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267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412A7-3247-FA06-7E34-79E9A3DD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1F635B-FD2A-C4E5-067E-B0F6CD536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8C14AF-5839-3367-A36C-66A8552E2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59DDAAE-6B0C-E9DA-AB76-73D768A3E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786839-035F-9F4C-D612-0C8EABE7B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04D52D-EDA0-B62B-E081-3CF30E81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EB80CB-CD6A-CC46-66D1-42F61F4B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67BC6A-D952-4537-8EBF-06648DA7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16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99583-D53A-B11C-140F-EEADCEED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A4C6299-F5E1-E5E3-02F1-FB9520AC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AA2B2B-ECFE-1D86-BF3D-70A69D93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42609D-9D11-CA4E-88A0-C13216E5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73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68A103-DFF2-54D8-E80F-C8E4E619A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10ECB3-74A9-1C7C-1C36-20C8C08A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43FDD4-3322-7056-C51E-FC81632F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0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41620-D425-72EF-5B0B-6CE502BA6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883C63-28ED-0E7C-F508-08E9811CA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E7D275-002C-D51E-5D6C-8291592B0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932F3E-233F-1B39-D927-9ABE8FC79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778DA2-2902-1763-9D6B-873BE44E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C0278-2F5F-FC10-949F-ED8AF310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57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F3F73-93AA-BBD7-74EA-63415BF1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5F19A2-93BD-4D0A-2345-059DA1862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5834BD-5CD3-434D-E0E8-6782668EB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36A95D-E5EB-E4B0-2D1B-39AB6983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0AD732-297B-7A07-B13C-7C191EC0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13E2D8-2E9C-8D25-4AD7-CB7096EB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4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336D4-9C94-F9DC-6ED7-677446710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5A8793-2054-D2A5-EB19-3738A1A90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7F8938-3A03-BD65-BCA3-AE23E95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BF5418-7690-3CBC-CCDF-F3E145A8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4C36F5-2718-801B-881F-4BD4E51B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531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42B885-6DD7-AF48-984A-DE58067DE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9CC2FF-939B-D335-370B-9DD2504F8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894B16-9B32-C77D-1CCA-E073E8613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24E4D6-9B6E-64ED-4982-6FE865EF1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BFBC08-D843-3F1B-8B33-9EA79591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88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A468BAE-442E-F85E-8368-6B5BE849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BCF7BF-532D-A091-27D9-B3BF9A265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06BCF3-A3B5-51BA-0E43-7AD9A4DF0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8256E-7AA8-4BAE-8FE4-E544E03E3DF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976002-BF5B-CCE3-B681-1258B241C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F4283-3C3A-DA03-DBBE-1684B2094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19B36-C0D0-4A0B-B2A0-45CA3BCC8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24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6FA5F89-5460-E9F2-5A38-FEF839829531}"/>
              </a:ext>
            </a:extLst>
          </p:cNvPr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EFE0D6E-0603-426F-6142-4DAD91CAAFE5}"/>
              </a:ext>
            </a:extLst>
          </p:cNvPr>
          <p:cNvSpPr/>
          <p:nvPr/>
        </p:nvSpPr>
        <p:spPr>
          <a:xfrm>
            <a:off x="0" y="63500"/>
            <a:ext cx="304800" cy="5080000"/>
          </a:xfrm>
          <a:prstGeom prst="rect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758DB4F-5775-0E69-23B3-726120D2E355}"/>
              </a:ext>
            </a:extLst>
          </p:cNvPr>
          <p:cNvSpPr/>
          <p:nvPr/>
        </p:nvSpPr>
        <p:spPr>
          <a:xfrm>
            <a:off x="6477000" y="-381000"/>
            <a:ext cx="3175000" cy="3175000"/>
          </a:xfrm>
          <a:prstGeom prst="ellipse">
            <a:avLst/>
          </a:prstGeom>
          <a:solidFill>
            <a:srgbClr val="004E7C">
              <a:alpha val="7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5EF04C-8AD7-6294-96C5-6DC8942C5F2A}"/>
              </a:ext>
            </a:extLst>
          </p:cNvPr>
          <p:cNvSpPr txBox="1"/>
          <p:nvPr/>
        </p:nvSpPr>
        <p:spPr>
          <a:xfrm>
            <a:off x="571500" y="558800"/>
            <a:ext cx="4318000" cy="990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pt-BR" sz="6800" b="1">
                <a:solidFill>
                  <a:srgbClr val="FFFFFF"/>
                </a:solidFill>
                <a:latin typeface="Calibri" panose="020F0502020204030204" pitchFamily="34" charset="0"/>
              </a:rPr>
              <a:t>LAW</a:t>
            </a:r>
            <a:r>
              <a:rPr lang="pt-BR" sz="6800">
                <a:solidFill>
                  <a:srgbClr val="00AEEF"/>
                </a:solidFill>
                <a:latin typeface="Calibri" panose="020F0502020204030204" pitchFamily="34" charset="0"/>
              </a:rPr>
              <a:t>gico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CF819D2-F471-D0AF-BB48-7AE67BCC1EDC}"/>
              </a:ext>
            </a:extLst>
          </p:cNvPr>
          <p:cNvSpPr txBox="1"/>
          <p:nvPr/>
        </p:nvSpPr>
        <p:spPr>
          <a:xfrm>
            <a:off x="571500" y="1549400"/>
            <a:ext cx="38100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500">
                <a:solidFill>
                  <a:srgbClr val="99C8DC"/>
                </a:solidFill>
              </a:rPr>
              <a:t>prazos &amp; agendas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628A58-18B1-CD8B-BCEB-C37ED4278991}"/>
              </a:ext>
            </a:extLst>
          </p:cNvPr>
          <p:cNvSpPr txBox="1"/>
          <p:nvPr/>
        </p:nvSpPr>
        <p:spPr>
          <a:xfrm>
            <a:off x="571500" y="1955800"/>
            <a:ext cx="6096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2100" b="1">
                <a:solidFill>
                  <a:srgbClr val="FFFFFF"/>
                </a:solidFill>
              </a:rPr>
              <a:t>Controle de Prazos e Agendas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429CCF5-0009-E460-C6E9-19E4E49DDE6A}"/>
              </a:ext>
            </a:extLst>
          </p:cNvPr>
          <p:cNvSpPr txBox="1"/>
          <p:nvPr/>
        </p:nvSpPr>
        <p:spPr>
          <a:xfrm>
            <a:off x="571500" y="2463800"/>
            <a:ext cx="60960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300">
                <a:solidFill>
                  <a:srgbClr val="99C8DC"/>
                </a:solidFill>
              </a:rPr>
              <a:t>Base Diaria de Atualizacao - Socios e Equipe</a:t>
            </a:r>
          </a:p>
        </p:txBody>
      </p:sp>
      <p:sp>
        <p:nvSpPr>
          <p:cNvPr id="9" name="Semicírculo 8">
            <a:extLst>
              <a:ext uri="{FF2B5EF4-FFF2-40B4-BE49-F238E27FC236}">
                <a16:creationId xmlns:a16="http://schemas.microsoft.com/office/drawing/2014/main" id="{493688A3-CAB2-666F-644E-3598C1086600}"/>
              </a:ext>
            </a:extLst>
          </p:cNvPr>
          <p:cNvSpPr/>
          <p:nvPr/>
        </p:nvSpPr>
        <p:spPr>
          <a:xfrm>
            <a:off x="571500" y="2895600"/>
            <a:ext cx="3429000" cy="0"/>
          </a:xfrm>
          <a:prstGeom prst="blockArc">
            <a:avLst/>
          </a:prstGeom>
          <a:ln w="19050">
            <a:solidFill>
              <a:srgbClr val="00AE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E8A5C07-8EB1-BC3A-FA86-E70576823232}"/>
              </a:ext>
            </a:extLst>
          </p:cNvPr>
          <p:cNvSpPr txBox="1"/>
          <p:nvPr/>
        </p:nvSpPr>
        <p:spPr>
          <a:xfrm>
            <a:off x="571500" y="3149600"/>
            <a:ext cx="6096000" cy="2540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900">
                <a:solidFill>
                  <a:srgbClr val="6699AA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281369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B06337B-CF01-E732-3DF6-C12033CB28A8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4FBFDC-BD86-893D-302B-3097C2D48A6B}"/>
              </a:ext>
            </a:extLst>
          </p:cNvPr>
          <p:cNvSpPr txBox="1"/>
          <p:nvPr/>
        </p:nvSpPr>
        <p:spPr>
          <a:xfrm>
            <a:off x="228600" y="0"/>
            <a:ext cx="8636000" cy="660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900">
                <a:solidFill>
                  <a:srgbClr val="6699AA"/>
                </a:solidFill>
              </a:rPr>
              <a:t>LAWgico  -  Controle de Prazos e Agendas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6D15AF-6591-9F49-5177-489689CCF00A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2949C0-7EB5-0AFA-B05C-67FC848E7F04}"/>
              </a:ext>
            </a:extLst>
          </p:cNvPr>
          <p:cNvSpPr txBox="1"/>
          <p:nvPr/>
        </p:nvSpPr>
        <p:spPr>
          <a:xfrm>
            <a:off x="304800" y="736600"/>
            <a:ext cx="6985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2100" b="1">
                <a:solidFill>
                  <a:srgbClr val="003B5C"/>
                </a:solidFill>
              </a:rPr>
              <a:t>O que e o sistema?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B2E4A6C-1CFF-C9B0-C401-5E3636AE96DC}"/>
              </a:ext>
            </a:extLst>
          </p:cNvPr>
          <p:cNvSpPr/>
          <p:nvPr/>
        </p:nvSpPr>
        <p:spPr>
          <a:xfrm>
            <a:off x="304800" y="1295400"/>
            <a:ext cx="63500" cy="28956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9B10298-4816-ECD4-DA3D-3A779C8EB2A3}"/>
              </a:ext>
            </a:extLst>
          </p:cNvPr>
          <p:cNvSpPr/>
          <p:nvPr/>
        </p:nvSpPr>
        <p:spPr>
          <a:xfrm>
            <a:off x="457200" y="1384300"/>
            <a:ext cx="88900" cy="889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D4B79F3-FF9E-4280-0930-58E5E298E178}"/>
              </a:ext>
            </a:extLst>
          </p:cNvPr>
          <p:cNvSpPr txBox="1"/>
          <p:nvPr/>
        </p:nvSpPr>
        <p:spPr>
          <a:xfrm>
            <a:off x="660400" y="1320800"/>
            <a:ext cx="5080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150">
                <a:solidFill>
                  <a:srgbClr val="1A2E3B"/>
                </a:solidFill>
              </a:rPr>
              <a:t>Plataforma web interna - acesso pelo navegador, sem instalacao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64EDEC3-6DF2-89E2-3106-C78D1A1307B7}"/>
              </a:ext>
            </a:extLst>
          </p:cNvPr>
          <p:cNvSpPr/>
          <p:nvPr/>
        </p:nvSpPr>
        <p:spPr>
          <a:xfrm>
            <a:off x="457200" y="1943100"/>
            <a:ext cx="88900" cy="889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A8F54E-1294-4E64-5DA3-224EBEDDB92A}"/>
              </a:ext>
            </a:extLst>
          </p:cNvPr>
          <p:cNvSpPr txBox="1"/>
          <p:nvPr/>
        </p:nvSpPr>
        <p:spPr>
          <a:xfrm>
            <a:off x="660400" y="1879600"/>
            <a:ext cx="5080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150">
                <a:solidFill>
                  <a:srgbClr val="1A2E3B"/>
                </a:solidFill>
              </a:rPr>
              <a:t>Atualizacao diaria via upload de planilha Excel pela Controladoria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1AF3E29-8540-A6B2-FF70-C1BA9D909542}"/>
              </a:ext>
            </a:extLst>
          </p:cNvPr>
          <p:cNvSpPr/>
          <p:nvPr/>
        </p:nvSpPr>
        <p:spPr>
          <a:xfrm>
            <a:off x="457200" y="2501900"/>
            <a:ext cx="88900" cy="889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F62EE5-D93F-F43B-FCB3-4C00B9D1D7C4}"/>
              </a:ext>
            </a:extLst>
          </p:cNvPr>
          <p:cNvSpPr txBox="1"/>
          <p:nvPr/>
        </p:nvSpPr>
        <p:spPr>
          <a:xfrm>
            <a:off x="660400" y="2438400"/>
            <a:ext cx="5080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150">
                <a:solidFill>
                  <a:srgbClr val="1A2E3B"/>
                </a:solidFill>
              </a:rPr>
              <a:t>Separa a visao dos socios (estrategica) da dos colaboradores (individual)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83C4133-5CCC-5FC7-356F-0C6E8432A3CE}"/>
              </a:ext>
            </a:extLst>
          </p:cNvPr>
          <p:cNvSpPr/>
          <p:nvPr/>
        </p:nvSpPr>
        <p:spPr>
          <a:xfrm>
            <a:off x="457200" y="3060700"/>
            <a:ext cx="88900" cy="889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1E084C8-2AEE-5E1A-7F15-56BD67355D42}"/>
              </a:ext>
            </a:extLst>
          </p:cNvPr>
          <p:cNvSpPr txBox="1"/>
          <p:nvPr/>
        </p:nvSpPr>
        <p:spPr>
          <a:xfrm>
            <a:off x="660400" y="2997200"/>
            <a:ext cx="5080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150">
                <a:solidFill>
                  <a:srgbClr val="1A2E3B"/>
                </a:solidFill>
              </a:rPr>
              <a:t>Classifica prazos por urgencia: Fatal, Vencido, D-1, D-2 e Futuro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81E18E1-8029-0282-756B-C396723C76B5}"/>
              </a:ext>
            </a:extLst>
          </p:cNvPr>
          <p:cNvSpPr/>
          <p:nvPr/>
        </p:nvSpPr>
        <p:spPr>
          <a:xfrm>
            <a:off x="457200" y="3619500"/>
            <a:ext cx="88900" cy="889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AAB8CC9-6D8F-BDC0-FFDB-E1DF1D5041EC}"/>
              </a:ext>
            </a:extLst>
          </p:cNvPr>
          <p:cNvSpPr txBox="1"/>
          <p:nvPr/>
        </p:nvSpPr>
        <p:spPr>
          <a:xfrm>
            <a:off x="660400" y="3556000"/>
            <a:ext cx="5080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150">
                <a:solidFill>
                  <a:srgbClr val="1A2E3B"/>
                </a:solidFill>
              </a:rPr>
              <a:t>Acesso por 3 perfis: Administrador, Socio/Gestor e Colaborador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9803C05-2C1B-E97C-7306-8B63D9BD32F2}"/>
              </a:ext>
            </a:extLst>
          </p:cNvPr>
          <p:cNvSpPr/>
          <p:nvPr/>
        </p:nvSpPr>
        <p:spPr>
          <a:xfrm>
            <a:off x="6705600" y="1295400"/>
            <a:ext cx="2032000" cy="28956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F4115B-3BA2-FC88-9239-0CB30E7F27EC}"/>
              </a:ext>
            </a:extLst>
          </p:cNvPr>
          <p:cNvSpPr txBox="1"/>
          <p:nvPr/>
        </p:nvSpPr>
        <p:spPr>
          <a:xfrm>
            <a:off x="6705600" y="1422400"/>
            <a:ext cx="2032000" cy="431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2400" b="1">
                <a:solidFill>
                  <a:srgbClr val="00AEEF"/>
                </a:solidFill>
              </a:rPr>
              <a:t>9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4DAF5FC-A59E-1B80-7F5F-B7FC5ECAFBF8}"/>
              </a:ext>
            </a:extLst>
          </p:cNvPr>
          <p:cNvSpPr txBox="1"/>
          <p:nvPr/>
        </p:nvSpPr>
        <p:spPr>
          <a:xfrm>
            <a:off x="6705600" y="1828800"/>
            <a:ext cx="2032000" cy="203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00">
                <a:solidFill>
                  <a:srgbClr val="99C8DC"/>
                </a:solidFill>
              </a:rPr>
              <a:t>Modulos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561BD88-5FD6-E6C7-72A8-770D1D694C13}"/>
              </a:ext>
            </a:extLst>
          </p:cNvPr>
          <p:cNvSpPr txBox="1"/>
          <p:nvPr/>
        </p:nvSpPr>
        <p:spPr>
          <a:xfrm>
            <a:off x="6705600" y="2336800"/>
            <a:ext cx="2032000" cy="431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2400" b="1">
                <a:solidFill>
                  <a:srgbClr val="00AEEF"/>
                </a:solidFill>
              </a:rPr>
              <a:t>3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1C76FAD-D9AC-2098-5142-AC393D2B1073}"/>
              </a:ext>
            </a:extLst>
          </p:cNvPr>
          <p:cNvSpPr txBox="1"/>
          <p:nvPr/>
        </p:nvSpPr>
        <p:spPr>
          <a:xfrm>
            <a:off x="6705600" y="2743200"/>
            <a:ext cx="2032000" cy="203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00">
                <a:solidFill>
                  <a:srgbClr val="99C8DC"/>
                </a:solidFill>
              </a:rPr>
              <a:t>Perfis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7AD7D0C-A9B5-1BC3-CF93-485097AB13D7}"/>
              </a:ext>
            </a:extLst>
          </p:cNvPr>
          <p:cNvSpPr txBox="1"/>
          <p:nvPr/>
        </p:nvSpPr>
        <p:spPr>
          <a:xfrm>
            <a:off x="6705600" y="3251200"/>
            <a:ext cx="2032000" cy="431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2400" b="1">
                <a:solidFill>
                  <a:srgbClr val="00AEEF"/>
                </a:solidFill>
              </a:rPr>
              <a:t>100%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DBB93E0-F116-B3CC-8F05-5F266778E694}"/>
              </a:ext>
            </a:extLst>
          </p:cNvPr>
          <p:cNvSpPr txBox="1"/>
          <p:nvPr/>
        </p:nvSpPr>
        <p:spPr>
          <a:xfrm>
            <a:off x="6705600" y="3657600"/>
            <a:ext cx="2032000" cy="203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00">
                <a:solidFill>
                  <a:srgbClr val="99C8DC"/>
                </a:solidFill>
              </a:rPr>
              <a:t>Web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1131E48-0FAE-36FF-989C-85A0ED4BEBDD}"/>
              </a:ext>
            </a:extLst>
          </p:cNvPr>
          <p:cNvSpPr txBox="1"/>
          <p:nvPr/>
        </p:nvSpPr>
        <p:spPr>
          <a:xfrm>
            <a:off x="0" y="4978400"/>
            <a:ext cx="9144000" cy="1651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800">
                <a:solidFill>
                  <a:srgbClr val="557789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410966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07C8354-F4D8-3869-0677-56A095273586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0372CE-9752-E9D8-89B7-60D0AC81D0E7}"/>
              </a:ext>
            </a:extLst>
          </p:cNvPr>
          <p:cNvSpPr txBox="1"/>
          <p:nvPr/>
        </p:nvSpPr>
        <p:spPr>
          <a:xfrm>
            <a:off x="228600" y="0"/>
            <a:ext cx="8636000" cy="660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900">
                <a:solidFill>
                  <a:srgbClr val="6699AA"/>
                </a:solidFill>
              </a:rPr>
              <a:t>LAWgico  -  Controle de Prazos e Agendas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5A1BD7-DF76-96D6-117A-E101FAB250A1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8135BFA-8A92-EE13-B8A2-25D0318B57B0}"/>
              </a:ext>
            </a:extLst>
          </p:cNvPr>
          <p:cNvSpPr txBox="1"/>
          <p:nvPr/>
        </p:nvSpPr>
        <p:spPr>
          <a:xfrm>
            <a:off x="304800" y="736600"/>
            <a:ext cx="6985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2100" b="1">
                <a:solidFill>
                  <a:srgbClr val="003B5C"/>
                </a:solidFill>
              </a:rPr>
              <a:t>Classificacao de Urgencia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3B5B0B-6CA2-9A96-CFAD-40A1176EE190}"/>
              </a:ext>
            </a:extLst>
          </p:cNvPr>
          <p:cNvSpPr/>
          <p:nvPr/>
        </p:nvSpPr>
        <p:spPr>
          <a:xfrm>
            <a:off x="304800" y="1295400"/>
            <a:ext cx="1600200" cy="2921000"/>
          </a:xfrm>
          <a:prstGeom prst="rect">
            <a:avLst/>
          </a:prstGeom>
          <a:solidFill>
            <a:srgbClr val="FFEBEE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3F93538-DFFB-0BF1-4805-C5E3207E4D45}"/>
              </a:ext>
            </a:extLst>
          </p:cNvPr>
          <p:cNvSpPr/>
          <p:nvPr/>
        </p:nvSpPr>
        <p:spPr>
          <a:xfrm>
            <a:off x="304800" y="1295400"/>
            <a:ext cx="1600200" cy="457200"/>
          </a:xfrm>
          <a:prstGeom prst="rect">
            <a:avLst/>
          </a:prstGeom>
          <a:solidFill>
            <a:srgbClr val="7B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CAF0302-DA00-C5A0-5942-0DEA86BFF0C2}"/>
              </a:ext>
            </a:extLst>
          </p:cNvPr>
          <p:cNvSpPr txBox="1"/>
          <p:nvPr/>
        </p:nvSpPr>
        <p:spPr>
          <a:xfrm>
            <a:off x="304800" y="1295400"/>
            <a:ext cx="1600200" cy="4572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Fatal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A7D1B6-C0CE-2987-7794-C1F439EFC05E}"/>
              </a:ext>
            </a:extLst>
          </p:cNvPr>
          <p:cNvSpPr txBox="1"/>
          <p:nvPr/>
        </p:nvSpPr>
        <p:spPr>
          <a:xfrm>
            <a:off x="368300" y="1879600"/>
            <a:ext cx="1473200" cy="2235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050">
                <a:solidFill>
                  <a:srgbClr val="7B0000"/>
                </a:solidFill>
              </a:rPr>
              <a:t>Prazo improrrogavel. Risco maximo - acao urgente.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DC32FB9-9E61-E42E-F493-582ACE1EFBB6}"/>
              </a:ext>
            </a:extLst>
          </p:cNvPr>
          <p:cNvSpPr/>
          <p:nvPr/>
        </p:nvSpPr>
        <p:spPr>
          <a:xfrm>
            <a:off x="1981200" y="1295400"/>
            <a:ext cx="1600200" cy="2921000"/>
          </a:xfrm>
          <a:prstGeom prst="rect">
            <a:avLst/>
          </a:prstGeom>
          <a:solidFill>
            <a:srgbClr val="FDECEA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C257FB-E93F-CDA6-7B63-DD4153124F6C}"/>
              </a:ext>
            </a:extLst>
          </p:cNvPr>
          <p:cNvSpPr/>
          <p:nvPr/>
        </p:nvSpPr>
        <p:spPr>
          <a:xfrm>
            <a:off x="1981200" y="1295400"/>
            <a:ext cx="1600200" cy="457200"/>
          </a:xfrm>
          <a:prstGeom prst="rect">
            <a:avLst/>
          </a:prstGeom>
          <a:solidFill>
            <a:srgbClr val="C628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C3FD332-FE3E-D089-3666-4DEEC2602AF0}"/>
              </a:ext>
            </a:extLst>
          </p:cNvPr>
          <p:cNvSpPr txBox="1"/>
          <p:nvPr/>
        </p:nvSpPr>
        <p:spPr>
          <a:xfrm>
            <a:off x="1981200" y="1295400"/>
            <a:ext cx="1600200" cy="4572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Vencido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33A976-91DC-B12F-AA4F-9ED4A09BBB8A}"/>
              </a:ext>
            </a:extLst>
          </p:cNvPr>
          <p:cNvSpPr txBox="1"/>
          <p:nvPr/>
        </p:nvSpPr>
        <p:spPr>
          <a:xfrm>
            <a:off x="2044700" y="1879600"/>
            <a:ext cx="1473200" cy="2235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050">
                <a:solidFill>
                  <a:srgbClr val="C62828"/>
                </a:solidFill>
              </a:rPr>
              <a:t>Prazo ja expirado. Verificar providencias urgentes.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178B294-093D-9E99-BBCE-62FDEE21653B}"/>
              </a:ext>
            </a:extLst>
          </p:cNvPr>
          <p:cNvSpPr/>
          <p:nvPr/>
        </p:nvSpPr>
        <p:spPr>
          <a:xfrm>
            <a:off x="3657600" y="1295400"/>
            <a:ext cx="1600200" cy="2921000"/>
          </a:xfrm>
          <a:prstGeom prst="rect">
            <a:avLst/>
          </a:prstGeom>
          <a:solidFill>
            <a:srgbClr val="FFF3E0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5A62325-4E81-E9A7-4C63-3F2E75B7B241}"/>
              </a:ext>
            </a:extLst>
          </p:cNvPr>
          <p:cNvSpPr/>
          <p:nvPr/>
        </p:nvSpPr>
        <p:spPr>
          <a:xfrm>
            <a:off x="3657600" y="1295400"/>
            <a:ext cx="1600200" cy="457200"/>
          </a:xfrm>
          <a:prstGeom prst="rect">
            <a:avLst/>
          </a:prstGeom>
          <a:solidFill>
            <a:srgbClr val="E651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793616-DE31-4EE6-58D4-652BE024D364}"/>
              </a:ext>
            </a:extLst>
          </p:cNvPr>
          <p:cNvSpPr txBox="1"/>
          <p:nvPr/>
        </p:nvSpPr>
        <p:spPr>
          <a:xfrm>
            <a:off x="3657600" y="1295400"/>
            <a:ext cx="1600200" cy="4572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D-1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5EB25D-A966-55D8-0805-2E668728B93F}"/>
              </a:ext>
            </a:extLst>
          </p:cNvPr>
          <p:cNvSpPr txBox="1"/>
          <p:nvPr/>
        </p:nvSpPr>
        <p:spPr>
          <a:xfrm>
            <a:off x="3721100" y="1879600"/>
            <a:ext cx="1473200" cy="2235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050">
                <a:solidFill>
                  <a:srgbClr val="E65100"/>
                </a:solidFill>
              </a:rPr>
              <a:t>Vence amanha. Atencao imediata necessaria.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6B23B1F-058B-7DFC-DED0-9A69F0ADEB5C}"/>
              </a:ext>
            </a:extLst>
          </p:cNvPr>
          <p:cNvSpPr/>
          <p:nvPr/>
        </p:nvSpPr>
        <p:spPr>
          <a:xfrm>
            <a:off x="5334000" y="1295400"/>
            <a:ext cx="1600200" cy="2921000"/>
          </a:xfrm>
          <a:prstGeom prst="rect">
            <a:avLst/>
          </a:prstGeom>
          <a:solidFill>
            <a:srgbClr val="FFFDE7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9F36ED4-519F-18A2-9D2C-6831BED4BA69}"/>
              </a:ext>
            </a:extLst>
          </p:cNvPr>
          <p:cNvSpPr/>
          <p:nvPr/>
        </p:nvSpPr>
        <p:spPr>
          <a:xfrm>
            <a:off x="5334000" y="1295400"/>
            <a:ext cx="1600200" cy="457200"/>
          </a:xfrm>
          <a:prstGeom prst="rect">
            <a:avLst/>
          </a:prstGeom>
          <a:solidFill>
            <a:srgbClr val="B08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04F3C0E-9BAC-70E5-0DC1-6841A519FF4C}"/>
              </a:ext>
            </a:extLst>
          </p:cNvPr>
          <p:cNvSpPr txBox="1"/>
          <p:nvPr/>
        </p:nvSpPr>
        <p:spPr>
          <a:xfrm>
            <a:off x="5334000" y="1295400"/>
            <a:ext cx="1600200" cy="4572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D-2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5B98F77-E9AC-F3FE-3F1D-A47B8C9A7C5C}"/>
              </a:ext>
            </a:extLst>
          </p:cNvPr>
          <p:cNvSpPr txBox="1"/>
          <p:nvPr/>
        </p:nvSpPr>
        <p:spPr>
          <a:xfrm>
            <a:off x="5397500" y="1879600"/>
            <a:ext cx="1473200" cy="2235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050">
                <a:solidFill>
                  <a:srgbClr val="B08800"/>
                </a:solidFill>
              </a:rPr>
              <a:t>Vence em 2 dias. Monitorar e preparar.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14FC71E-2FBF-F20A-19A6-90A3983EA420}"/>
              </a:ext>
            </a:extLst>
          </p:cNvPr>
          <p:cNvSpPr/>
          <p:nvPr/>
        </p:nvSpPr>
        <p:spPr>
          <a:xfrm>
            <a:off x="7010400" y="1295400"/>
            <a:ext cx="1600200" cy="2921000"/>
          </a:xfrm>
          <a:prstGeom prst="rect">
            <a:avLst/>
          </a:prstGeom>
          <a:solidFill>
            <a:srgbClr val="E8F5E9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5B4EE03-925A-14F4-50DD-9665813F9C64}"/>
              </a:ext>
            </a:extLst>
          </p:cNvPr>
          <p:cNvSpPr/>
          <p:nvPr/>
        </p:nvSpPr>
        <p:spPr>
          <a:xfrm>
            <a:off x="7010400" y="1295400"/>
            <a:ext cx="1600200" cy="457200"/>
          </a:xfrm>
          <a:prstGeom prst="rect">
            <a:avLst/>
          </a:prstGeom>
          <a:solidFill>
            <a:srgbClr val="2D7D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B23CC90-13DE-6F84-328A-BA937573D4C0}"/>
              </a:ext>
            </a:extLst>
          </p:cNvPr>
          <p:cNvSpPr txBox="1"/>
          <p:nvPr/>
        </p:nvSpPr>
        <p:spPr>
          <a:xfrm>
            <a:off x="7010400" y="1295400"/>
            <a:ext cx="1600200" cy="4572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Futuro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C4A8A04-9CAC-51ED-FFBA-7AD2BB3CC2CF}"/>
              </a:ext>
            </a:extLst>
          </p:cNvPr>
          <p:cNvSpPr txBox="1"/>
          <p:nvPr/>
        </p:nvSpPr>
        <p:spPr>
          <a:xfrm>
            <a:off x="7073900" y="1879600"/>
            <a:ext cx="1473200" cy="2235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050">
                <a:solidFill>
                  <a:srgbClr val="2D7D46"/>
                </a:solidFill>
              </a:rPr>
              <a:t>Dentro do calendario. Acompanhamento normal.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900D1C3-59F7-3CAC-C24D-D9A960F00A10}"/>
              </a:ext>
            </a:extLst>
          </p:cNvPr>
          <p:cNvSpPr txBox="1"/>
          <p:nvPr/>
        </p:nvSpPr>
        <p:spPr>
          <a:xfrm>
            <a:off x="304800" y="4368800"/>
            <a:ext cx="8509000" cy="2540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900">
                <a:solidFill>
                  <a:srgbClr val="557789"/>
                </a:solidFill>
              </a:rPr>
              <a:t>Prazos Fatais e Vencidos exigem acao imediata - veja o Ranking de Responsaveis no Dashboard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50845D8-609A-6765-6DCD-B47D99588A79}"/>
              </a:ext>
            </a:extLst>
          </p:cNvPr>
          <p:cNvSpPr txBox="1"/>
          <p:nvPr/>
        </p:nvSpPr>
        <p:spPr>
          <a:xfrm>
            <a:off x="0" y="4978400"/>
            <a:ext cx="9144000" cy="1651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800">
                <a:solidFill>
                  <a:srgbClr val="557789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331012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18BFC4-83DB-C74B-2B57-8B306FABA556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416D0A-CFF8-B4D6-6F3F-90EA0C9DED63}"/>
              </a:ext>
            </a:extLst>
          </p:cNvPr>
          <p:cNvSpPr txBox="1"/>
          <p:nvPr/>
        </p:nvSpPr>
        <p:spPr>
          <a:xfrm>
            <a:off x="228600" y="0"/>
            <a:ext cx="8636000" cy="660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900">
                <a:solidFill>
                  <a:srgbClr val="6699AA"/>
                </a:solidFill>
              </a:rPr>
              <a:t>LAWgico  -  Controle de Prazos e Agendas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0E37BAA-71EC-3834-FCF6-813449F944A2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19B5C5-D553-D552-B547-46052D04CBB4}"/>
              </a:ext>
            </a:extLst>
          </p:cNvPr>
          <p:cNvSpPr txBox="1"/>
          <p:nvPr/>
        </p:nvSpPr>
        <p:spPr>
          <a:xfrm>
            <a:off x="304800" y="736600"/>
            <a:ext cx="5334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2100" b="1">
                <a:solidFill>
                  <a:srgbClr val="003B5C"/>
                </a:solidFill>
              </a:rPr>
              <a:t>9 Modulos Integrados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B5A0AE-A25B-E97E-AABE-7299D6C41350}"/>
              </a:ext>
            </a:extLst>
          </p:cNvPr>
          <p:cNvSpPr txBox="1"/>
          <p:nvPr/>
        </p:nvSpPr>
        <p:spPr>
          <a:xfrm>
            <a:off x="6985000" y="812800"/>
            <a:ext cx="2032000" cy="279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pt-BR" sz="1000">
                <a:solidFill>
                  <a:srgbClr val="557789"/>
                </a:solidFill>
              </a:rPr>
              <a:t>Modulos 1 a 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2348E1C-6561-9AA9-EE06-B2611C226CAA}"/>
              </a:ext>
            </a:extLst>
          </p:cNvPr>
          <p:cNvSpPr/>
          <p:nvPr/>
        </p:nvSpPr>
        <p:spPr>
          <a:xfrm>
            <a:off x="304800" y="1295400"/>
            <a:ext cx="160020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70F6241-54BD-DE38-18EC-534C5C846451}"/>
              </a:ext>
            </a:extLst>
          </p:cNvPr>
          <p:cNvSpPr/>
          <p:nvPr/>
        </p:nvSpPr>
        <p:spPr>
          <a:xfrm>
            <a:off x="304800" y="1295400"/>
            <a:ext cx="1600200" cy="38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D6F1F54-D508-46AC-7A7B-722451A074A0}"/>
              </a:ext>
            </a:extLst>
          </p:cNvPr>
          <p:cNvSpPr txBox="1"/>
          <p:nvPr/>
        </p:nvSpPr>
        <p:spPr>
          <a:xfrm>
            <a:off x="304800" y="1295400"/>
            <a:ext cx="16002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AEEF"/>
                </a:solidFill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BEAFA8-0637-446C-8F49-BC1240067844}"/>
              </a:ext>
            </a:extLst>
          </p:cNvPr>
          <p:cNvSpPr txBox="1"/>
          <p:nvPr/>
        </p:nvSpPr>
        <p:spPr>
          <a:xfrm>
            <a:off x="355600" y="1752600"/>
            <a:ext cx="14986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100" b="1">
                <a:solidFill>
                  <a:srgbClr val="003B5C"/>
                </a:solidFill>
              </a:rPr>
              <a:t>Dashboard Executivo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2ED80B4-16B1-86D5-6957-0E2266E134AE}"/>
              </a:ext>
            </a:extLst>
          </p:cNvPr>
          <p:cNvSpPr txBox="1"/>
          <p:nvPr/>
        </p:nvSpPr>
        <p:spPr>
          <a:xfrm>
            <a:off x="355600" y="2260600"/>
            <a:ext cx="14986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557789"/>
                </a:solidFill>
              </a:rPr>
              <a:t>KPIs em tempo real: totais de prazos, vencidos, fatais, D-1, D-2, audiencias do dia e ranking de responsaveis.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3E9FDE7-8DDA-95F6-C9A9-25964F2607BF}"/>
              </a:ext>
            </a:extLst>
          </p:cNvPr>
          <p:cNvSpPr/>
          <p:nvPr/>
        </p:nvSpPr>
        <p:spPr>
          <a:xfrm>
            <a:off x="1981200" y="1295400"/>
            <a:ext cx="160020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D8D9EB7-D10D-0FB7-B3CC-889DDE2CA76D}"/>
              </a:ext>
            </a:extLst>
          </p:cNvPr>
          <p:cNvSpPr/>
          <p:nvPr/>
        </p:nvSpPr>
        <p:spPr>
          <a:xfrm>
            <a:off x="1981200" y="1295400"/>
            <a:ext cx="1600200" cy="38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D63FD43-65AD-0D36-EF0E-4472675AD080}"/>
              </a:ext>
            </a:extLst>
          </p:cNvPr>
          <p:cNvSpPr txBox="1"/>
          <p:nvPr/>
        </p:nvSpPr>
        <p:spPr>
          <a:xfrm>
            <a:off x="1981200" y="1295400"/>
            <a:ext cx="16002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AEEF"/>
                </a:solidFill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B239A2D-5DB9-FF82-CE61-D14CF98AF69D}"/>
              </a:ext>
            </a:extLst>
          </p:cNvPr>
          <p:cNvSpPr txBox="1"/>
          <p:nvPr/>
        </p:nvSpPr>
        <p:spPr>
          <a:xfrm>
            <a:off x="2032000" y="1752600"/>
            <a:ext cx="14986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100" b="1">
                <a:solidFill>
                  <a:srgbClr val="003B5C"/>
                </a:solidFill>
              </a:rPr>
              <a:t>Agendas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C588520-5A04-44E9-5A72-0BD2B33B8570}"/>
              </a:ext>
            </a:extLst>
          </p:cNvPr>
          <p:cNvSpPr txBox="1"/>
          <p:nvPr/>
        </p:nvSpPr>
        <p:spPr>
          <a:xfrm>
            <a:off x="2032000" y="2260600"/>
            <a:ext cx="14986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557789"/>
                </a:solidFill>
              </a:rPr>
              <a:t>Listagem completa com filtros por profissional, grupo e status de urgencia.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25306CF-ED8C-7619-27FA-5AE21EACC699}"/>
              </a:ext>
            </a:extLst>
          </p:cNvPr>
          <p:cNvSpPr/>
          <p:nvPr/>
        </p:nvSpPr>
        <p:spPr>
          <a:xfrm>
            <a:off x="3657600" y="1295400"/>
            <a:ext cx="160020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7D010A9-82F5-0E50-7BCE-9CD19F902332}"/>
              </a:ext>
            </a:extLst>
          </p:cNvPr>
          <p:cNvSpPr/>
          <p:nvPr/>
        </p:nvSpPr>
        <p:spPr>
          <a:xfrm>
            <a:off x="3657600" y="1295400"/>
            <a:ext cx="1600200" cy="38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9212D9F-C80E-4A40-E54D-FF98865C316E}"/>
              </a:ext>
            </a:extLst>
          </p:cNvPr>
          <p:cNvSpPr txBox="1"/>
          <p:nvPr/>
        </p:nvSpPr>
        <p:spPr>
          <a:xfrm>
            <a:off x="3657600" y="1295400"/>
            <a:ext cx="16002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AEEF"/>
                </a:solidFill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13B33D6-5643-C8D5-0BE2-754B6649E8B4}"/>
              </a:ext>
            </a:extLst>
          </p:cNvPr>
          <p:cNvSpPr txBox="1"/>
          <p:nvPr/>
        </p:nvSpPr>
        <p:spPr>
          <a:xfrm>
            <a:off x="3708400" y="1752600"/>
            <a:ext cx="14986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100" b="1">
                <a:solidFill>
                  <a:srgbClr val="003B5C"/>
                </a:solidFill>
              </a:rPr>
              <a:t>Agenda Equipe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E4057AF-93ED-FD82-EBF8-223AFF7834FA}"/>
              </a:ext>
            </a:extLst>
          </p:cNvPr>
          <p:cNvSpPr txBox="1"/>
          <p:nvPr/>
        </p:nvSpPr>
        <p:spPr>
          <a:xfrm>
            <a:off x="3708400" y="2260600"/>
            <a:ext cx="14986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557789"/>
                </a:solidFill>
              </a:rPr>
              <a:t>Visao consolidada da agenda de cada membro da equipe.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339C060-588A-D760-CE49-8A6EB12F003F}"/>
              </a:ext>
            </a:extLst>
          </p:cNvPr>
          <p:cNvSpPr/>
          <p:nvPr/>
        </p:nvSpPr>
        <p:spPr>
          <a:xfrm>
            <a:off x="5334000" y="1295400"/>
            <a:ext cx="160020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79212AA-5270-D7D5-AFC2-AAA865B343F6}"/>
              </a:ext>
            </a:extLst>
          </p:cNvPr>
          <p:cNvSpPr/>
          <p:nvPr/>
        </p:nvSpPr>
        <p:spPr>
          <a:xfrm>
            <a:off x="5334000" y="1295400"/>
            <a:ext cx="1600200" cy="38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52AA6DA-3897-49BF-22A2-EE201C18F75E}"/>
              </a:ext>
            </a:extLst>
          </p:cNvPr>
          <p:cNvSpPr txBox="1"/>
          <p:nvPr/>
        </p:nvSpPr>
        <p:spPr>
          <a:xfrm>
            <a:off x="5334000" y="1295400"/>
            <a:ext cx="16002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AEEF"/>
                </a:solidFill>
              </a:rPr>
              <a:t>4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0DF956-EC59-79BD-6918-A088B5E9A703}"/>
              </a:ext>
            </a:extLst>
          </p:cNvPr>
          <p:cNvSpPr txBox="1"/>
          <p:nvPr/>
        </p:nvSpPr>
        <p:spPr>
          <a:xfrm>
            <a:off x="5384800" y="1752600"/>
            <a:ext cx="14986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100" b="1">
                <a:solidFill>
                  <a:srgbClr val="003B5C"/>
                </a:solidFill>
              </a:rPr>
              <a:t>Audiencias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AEE6B6-E638-ED54-C997-813E4B13826D}"/>
              </a:ext>
            </a:extLst>
          </p:cNvPr>
          <p:cNvSpPr txBox="1"/>
          <p:nvPr/>
        </p:nvSpPr>
        <p:spPr>
          <a:xfrm>
            <a:off x="5384800" y="2260600"/>
            <a:ext cx="14986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557789"/>
                </a:solidFill>
              </a:rPr>
              <a:t>Controle de audiencias com status, filtros por periodo e responsavel.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C6C5510-64AF-A979-AF10-034D21019EA6}"/>
              </a:ext>
            </a:extLst>
          </p:cNvPr>
          <p:cNvSpPr/>
          <p:nvPr/>
        </p:nvSpPr>
        <p:spPr>
          <a:xfrm>
            <a:off x="7010400" y="1295400"/>
            <a:ext cx="160020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CD2A2AE-8F27-0853-3705-D094E2B95F97}"/>
              </a:ext>
            </a:extLst>
          </p:cNvPr>
          <p:cNvSpPr/>
          <p:nvPr/>
        </p:nvSpPr>
        <p:spPr>
          <a:xfrm>
            <a:off x="7010400" y="1295400"/>
            <a:ext cx="1600200" cy="38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6EE1384-8896-6729-8437-7647A0D7DBAB}"/>
              </a:ext>
            </a:extLst>
          </p:cNvPr>
          <p:cNvSpPr txBox="1"/>
          <p:nvPr/>
        </p:nvSpPr>
        <p:spPr>
          <a:xfrm>
            <a:off x="7010400" y="1295400"/>
            <a:ext cx="16002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AEEF"/>
                </a:solidFill>
              </a:rPr>
              <a:t>5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CCA491E-FF5D-E535-21AB-AFEF15A576AB}"/>
              </a:ext>
            </a:extLst>
          </p:cNvPr>
          <p:cNvSpPr txBox="1"/>
          <p:nvPr/>
        </p:nvSpPr>
        <p:spPr>
          <a:xfrm>
            <a:off x="7061200" y="1752600"/>
            <a:ext cx="14986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100" b="1">
                <a:solidFill>
                  <a:srgbClr val="003B5C"/>
                </a:solidFill>
              </a:rPr>
              <a:t>Redesignadas/Canceladas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A201A3-06F1-9A84-1C57-35352A6E77D1}"/>
              </a:ext>
            </a:extLst>
          </p:cNvPr>
          <p:cNvSpPr txBox="1"/>
          <p:nvPr/>
        </p:nvSpPr>
        <p:spPr>
          <a:xfrm>
            <a:off x="7061200" y="2260600"/>
            <a:ext cx="14986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557789"/>
                </a:solidFill>
              </a:rPr>
              <a:t>Historico de audiencias redesignadas ou canceladas.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7DBC9BB-95BA-406C-B833-DE6509880F76}"/>
              </a:ext>
            </a:extLst>
          </p:cNvPr>
          <p:cNvSpPr txBox="1"/>
          <p:nvPr/>
        </p:nvSpPr>
        <p:spPr>
          <a:xfrm>
            <a:off x="0" y="4978400"/>
            <a:ext cx="9144000" cy="1651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800">
                <a:solidFill>
                  <a:srgbClr val="557789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256333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92B5809-2362-5203-CCCA-85E1ED03D165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B4EEA3-4FDE-8D82-06AF-F6A315E348D0}"/>
              </a:ext>
            </a:extLst>
          </p:cNvPr>
          <p:cNvSpPr txBox="1"/>
          <p:nvPr/>
        </p:nvSpPr>
        <p:spPr>
          <a:xfrm>
            <a:off x="228600" y="0"/>
            <a:ext cx="8636000" cy="660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900">
                <a:solidFill>
                  <a:srgbClr val="6699AA"/>
                </a:solidFill>
              </a:rPr>
              <a:t>LAWgico  -  Controle de Prazos e Agendas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75601B7-D85B-1B8C-A497-574E667F2BA8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759374E-0F81-6924-59B8-DCAA23DC2142}"/>
              </a:ext>
            </a:extLst>
          </p:cNvPr>
          <p:cNvSpPr txBox="1"/>
          <p:nvPr/>
        </p:nvSpPr>
        <p:spPr>
          <a:xfrm>
            <a:off x="304800" y="736600"/>
            <a:ext cx="5334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2100" b="1">
                <a:solidFill>
                  <a:srgbClr val="003B5C"/>
                </a:solidFill>
              </a:rPr>
              <a:t>9 Modulos Integrados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6A32A8-0911-F512-1D38-980252957323}"/>
              </a:ext>
            </a:extLst>
          </p:cNvPr>
          <p:cNvSpPr txBox="1"/>
          <p:nvPr/>
        </p:nvSpPr>
        <p:spPr>
          <a:xfrm>
            <a:off x="6985000" y="812800"/>
            <a:ext cx="2032000" cy="279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pt-BR" sz="1000">
                <a:solidFill>
                  <a:srgbClr val="557789"/>
                </a:solidFill>
              </a:rPr>
              <a:t>Modulos 6 a 9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F369B0D-26A5-591C-CA5D-82F8694376D6}"/>
              </a:ext>
            </a:extLst>
          </p:cNvPr>
          <p:cNvSpPr/>
          <p:nvPr/>
        </p:nvSpPr>
        <p:spPr>
          <a:xfrm>
            <a:off x="304800" y="1295400"/>
            <a:ext cx="201930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FA612B-55F7-5494-61EC-6D0F3A928D1C}"/>
              </a:ext>
            </a:extLst>
          </p:cNvPr>
          <p:cNvSpPr/>
          <p:nvPr/>
        </p:nvSpPr>
        <p:spPr>
          <a:xfrm>
            <a:off x="304800" y="1295400"/>
            <a:ext cx="76200" cy="31242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65E19B3-725F-7C0D-B235-DC0459769211}"/>
              </a:ext>
            </a:extLst>
          </p:cNvPr>
          <p:cNvSpPr/>
          <p:nvPr/>
        </p:nvSpPr>
        <p:spPr>
          <a:xfrm>
            <a:off x="304800" y="1295400"/>
            <a:ext cx="2019300" cy="38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4D50153-0A10-311C-685B-7ADF0F02F5EB}"/>
              </a:ext>
            </a:extLst>
          </p:cNvPr>
          <p:cNvSpPr txBox="1"/>
          <p:nvPr/>
        </p:nvSpPr>
        <p:spPr>
          <a:xfrm>
            <a:off x="431800" y="1295400"/>
            <a:ext cx="18161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920ED00-C0C3-3927-FA5A-E600EAA7C641}"/>
              </a:ext>
            </a:extLst>
          </p:cNvPr>
          <p:cNvSpPr txBox="1"/>
          <p:nvPr/>
        </p:nvSpPr>
        <p:spPr>
          <a:xfrm>
            <a:off x="431800" y="1752600"/>
            <a:ext cx="18161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200" b="1">
                <a:solidFill>
                  <a:srgbClr val="003B5C"/>
                </a:solidFill>
              </a:rPr>
              <a:t>Quadro Geral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07D4A7E-C624-D6A9-5768-9A1D67168047}"/>
              </a:ext>
            </a:extLst>
          </p:cNvPr>
          <p:cNvSpPr txBox="1"/>
          <p:nvPr/>
        </p:nvSpPr>
        <p:spPr>
          <a:xfrm>
            <a:off x="431800" y="2260600"/>
            <a:ext cx="18161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00">
                <a:solidFill>
                  <a:srgbClr val="557789"/>
                </a:solidFill>
              </a:rPr>
              <a:t>Visao consolidada para gestores e socios, resumo por grupo e profissional.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E589D12-2D61-2B69-10DB-94A87C06741C}"/>
              </a:ext>
            </a:extLst>
          </p:cNvPr>
          <p:cNvSpPr/>
          <p:nvPr/>
        </p:nvSpPr>
        <p:spPr>
          <a:xfrm>
            <a:off x="2438400" y="1295400"/>
            <a:ext cx="2019300" cy="3124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16E5DDC-A918-881A-C419-015D87649D29}"/>
              </a:ext>
            </a:extLst>
          </p:cNvPr>
          <p:cNvSpPr/>
          <p:nvPr/>
        </p:nvSpPr>
        <p:spPr>
          <a:xfrm>
            <a:off x="2438400" y="1295400"/>
            <a:ext cx="76200" cy="3124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1A82E0D-8E40-8745-E621-87F238C6D3A7}"/>
              </a:ext>
            </a:extLst>
          </p:cNvPr>
          <p:cNvSpPr/>
          <p:nvPr/>
        </p:nvSpPr>
        <p:spPr>
          <a:xfrm>
            <a:off x="2438400" y="1295400"/>
            <a:ext cx="2019300" cy="381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E1FFF97-C595-0BA1-0019-5E712A515012}"/>
              </a:ext>
            </a:extLst>
          </p:cNvPr>
          <p:cNvSpPr txBox="1"/>
          <p:nvPr/>
        </p:nvSpPr>
        <p:spPr>
          <a:xfrm>
            <a:off x="2565400" y="1295400"/>
            <a:ext cx="18161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46D7F04-8660-707F-7F8C-E3FFC34909DE}"/>
              </a:ext>
            </a:extLst>
          </p:cNvPr>
          <p:cNvSpPr txBox="1"/>
          <p:nvPr/>
        </p:nvSpPr>
        <p:spPr>
          <a:xfrm>
            <a:off x="2565400" y="1752600"/>
            <a:ext cx="18161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200" b="1">
                <a:solidFill>
                  <a:srgbClr val="C0392B"/>
                </a:solidFill>
              </a:rPr>
              <a:t>Gestao de Usuarios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2FBB940-312B-FE5D-D253-991649F77CF9}"/>
              </a:ext>
            </a:extLst>
          </p:cNvPr>
          <p:cNvSpPr txBox="1"/>
          <p:nvPr/>
        </p:nvSpPr>
        <p:spPr>
          <a:xfrm>
            <a:off x="2565400" y="2260600"/>
            <a:ext cx="18161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00">
                <a:solidFill>
                  <a:srgbClr val="557789"/>
                </a:solidFill>
              </a:rPr>
              <a:t>Painel exclusivo do administrador: usuarios, senhas e perfis.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4C978C0-4D6E-BD47-F53E-65E3C74D9BF3}"/>
              </a:ext>
            </a:extLst>
          </p:cNvPr>
          <p:cNvSpPr/>
          <p:nvPr/>
        </p:nvSpPr>
        <p:spPr>
          <a:xfrm>
            <a:off x="4572000" y="1295400"/>
            <a:ext cx="201930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1D65FCB-9F86-F38E-93C0-970465BB3DF7}"/>
              </a:ext>
            </a:extLst>
          </p:cNvPr>
          <p:cNvSpPr/>
          <p:nvPr/>
        </p:nvSpPr>
        <p:spPr>
          <a:xfrm>
            <a:off x="4572000" y="1295400"/>
            <a:ext cx="76200" cy="31242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B31EAB7-BF39-E809-4979-2F21307E5079}"/>
              </a:ext>
            </a:extLst>
          </p:cNvPr>
          <p:cNvSpPr/>
          <p:nvPr/>
        </p:nvSpPr>
        <p:spPr>
          <a:xfrm>
            <a:off x="4572000" y="1295400"/>
            <a:ext cx="2019300" cy="38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07A28FD-A043-9C30-CB6C-C8270EC2BDBF}"/>
              </a:ext>
            </a:extLst>
          </p:cNvPr>
          <p:cNvSpPr txBox="1"/>
          <p:nvPr/>
        </p:nvSpPr>
        <p:spPr>
          <a:xfrm>
            <a:off x="4699000" y="1295400"/>
            <a:ext cx="18161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7EBB42A-EAB8-519F-710D-69820B9E31F9}"/>
              </a:ext>
            </a:extLst>
          </p:cNvPr>
          <p:cNvSpPr txBox="1"/>
          <p:nvPr/>
        </p:nvSpPr>
        <p:spPr>
          <a:xfrm>
            <a:off x="4699000" y="1752600"/>
            <a:ext cx="18161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200" b="1">
                <a:solidFill>
                  <a:srgbClr val="003B5C"/>
                </a:solidFill>
              </a:rPr>
              <a:t>Exposicao por Grupo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8BEE8BC-0630-CA23-CAE9-4B63AA87F4A0}"/>
              </a:ext>
            </a:extLst>
          </p:cNvPr>
          <p:cNvSpPr txBox="1"/>
          <p:nvPr/>
        </p:nvSpPr>
        <p:spPr>
          <a:xfrm>
            <a:off x="4699000" y="2260600"/>
            <a:ext cx="18161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00">
                <a:solidFill>
                  <a:srgbClr val="557789"/>
                </a:solidFill>
              </a:rPr>
              <a:t>Analise da exposicao de prazos por grupo com ranking e pontos criticos.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298BCBA-B01C-E663-1F5B-7CFB988556B1}"/>
              </a:ext>
            </a:extLst>
          </p:cNvPr>
          <p:cNvSpPr/>
          <p:nvPr/>
        </p:nvSpPr>
        <p:spPr>
          <a:xfrm>
            <a:off x="6705600" y="1295400"/>
            <a:ext cx="201930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A17D839-430D-104B-118C-27DD81421726}"/>
              </a:ext>
            </a:extLst>
          </p:cNvPr>
          <p:cNvSpPr/>
          <p:nvPr/>
        </p:nvSpPr>
        <p:spPr>
          <a:xfrm>
            <a:off x="6705600" y="1295400"/>
            <a:ext cx="76200" cy="31242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739B5D6-5146-2321-7945-74FAB218FBA9}"/>
              </a:ext>
            </a:extLst>
          </p:cNvPr>
          <p:cNvSpPr/>
          <p:nvPr/>
        </p:nvSpPr>
        <p:spPr>
          <a:xfrm>
            <a:off x="6705600" y="1295400"/>
            <a:ext cx="2019300" cy="38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CDF042F-C853-ED8E-07F2-F79475AEEE1A}"/>
              </a:ext>
            </a:extLst>
          </p:cNvPr>
          <p:cNvSpPr txBox="1"/>
          <p:nvPr/>
        </p:nvSpPr>
        <p:spPr>
          <a:xfrm>
            <a:off x="6832600" y="1295400"/>
            <a:ext cx="18161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413EC40-8ADF-7875-5289-D5D780DED115}"/>
              </a:ext>
            </a:extLst>
          </p:cNvPr>
          <p:cNvSpPr txBox="1"/>
          <p:nvPr/>
        </p:nvSpPr>
        <p:spPr>
          <a:xfrm>
            <a:off x="6832600" y="1752600"/>
            <a:ext cx="18161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200" b="1">
                <a:solidFill>
                  <a:srgbClr val="003B5C"/>
                </a:solidFill>
              </a:rPr>
              <a:t>Meu Painel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3D8DC2F-354C-6A0C-EC07-F5CDECCAD2EF}"/>
              </a:ext>
            </a:extLst>
          </p:cNvPr>
          <p:cNvSpPr txBox="1"/>
          <p:nvPr/>
        </p:nvSpPr>
        <p:spPr>
          <a:xfrm>
            <a:off x="6832600" y="2260600"/>
            <a:ext cx="1816100" cy="2057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00">
                <a:solidFill>
                  <a:srgbClr val="557789"/>
                </a:solidFill>
              </a:rPr>
              <a:t>Visao personalizada do colaborador: apenas seus proprios prazos, agendas e audiencias.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01671D7-F7A0-DCDE-EC3D-359311966EE9}"/>
              </a:ext>
            </a:extLst>
          </p:cNvPr>
          <p:cNvSpPr txBox="1"/>
          <p:nvPr/>
        </p:nvSpPr>
        <p:spPr>
          <a:xfrm>
            <a:off x="0" y="4978400"/>
            <a:ext cx="9144000" cy="1651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800">
                <a:solidFill>
                  <a:srgbClr val="557789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405679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9B94B23-854B-3E35-1047-D356DF6D3603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BD0241-9A16-7C00-FA12-3320685E2847}"/>
              </a:ext>
            </a:extLst>
          </p:cNvPr>
          <p:cNvSpPr txBox="1"/>
          <p:nvPr/>
        </p:nvSpPr>
        <p:spPr>
          <a:xfrm>
            <a:off x="228600" y="0"/>
            <a:ext cx="8636000" cy="660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900">
                <a:solidFill>
                  <a:srgbClr val="6699AA"/>
                </a:solidFill>
              </a:rPr>
              <a:t>LAWgico  -  Controle de Prazos e Agendas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C823C8-F5FE-2876-0406-0182E95995BD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B56EA2-6BE5-1F77-29FD-709EB2D73E07}"/>
              </a:ext>
            </a:extLst>
          </p:cNvPr>
          <p:cNvSpPr txBox="1"/>
          <p:nvPr/>
        </p:nvSpPr>
        <p:spPr>
          <a:xfrm>
            <a:off x="304800" y="736600"/>
            <a:ext cx="6985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2100" b="1">
                <a:solidFill>
                  <a:srgbClr val="003B5C"/>
                </a:solidFill>
              </a:rPr>
              <a:t>3 Perfis de Acesso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0ECCF4-C43A-34B5-A0F6-99C9B229F6EE}"/>
              </a:ext>
            </a:extLst>
          </p:cNvPr>
          <p:cNvSpPr/>
          <p:nvPr/>
        </p:nvSpPr>
        <p:spPr>
          <a:xfrm>
            <a:off x="304800" y="1295400"/>
            <a:ext cx="2641600" cy="3124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8A7822-527D-6114-0FE6-60138EC5285B}"/>
              </a:ext>
            </a:extLst>
          </p:cNvPr>
          <p:cNvSpPr/>
          <p:nvPr/>
        </p:nvSpPr>
        <p:spPr>
          <a:xfrm>
            <a:off x="304800" y="1295400"/>
            <a:ext cx="2641600" cy="5588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76973C-AF99-AC2C-7D84-69EFEF7137C6}"/>
              </a:ext>
            </a:extLst>
          </p:cNvPr>
          <p:cNvSpPr txBox="1"/>
          <p:nvPr/>
        </p:nvSpPr>
        <p:spPr>
          <a:xfrm>
            <a:off x="406400" y="1295400"/>
            <a:ext cx="2438400" cy="5588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</a:rPr>
              <a:t>Administrador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B16CD23-4DA9-E48C-7C4B-14913A97190E}"/>
              </a:ext>
            </a:extLst>
          </p:cNvPr>
          <p:cNvSpPr/>
          <p:nvPr/>
        </p:nvSpPr>
        <p:spPr>
          <a:xfrm>
            <a:off x="431800" y="2019300"/>
            <a:ext cx="88900" cy="889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BA18DA-C196-30BB-BE03-7C74497D5C73}"/>
              </a:ext>
            </a:extLst>
          </p:cNvPr>
          <p:cNvSpPr txBox="1"/>
          <p:nvPr/>
        </p:nvSpPr>
        <p:spPr>
          <a:xfrm>
            <a:off x="609600" y="19558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Acesso total ao sistema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006FD87-262C-CB03-72CF-6EA7AC394CE9}"/>
              </a:ext>
            </a:extLst>
          </p:cNvPr>
          <p:cNvSpPr/>
          <p:nvPr/>
        </p:nvSpPr>
        <p:spPr>
          <a:xfrm>
            <a:off x="431800" y="2476500"/>
            <a:ext cx="88900" cy="889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C92B6C-BF70-4E03-A4B9-7BBFE63C7E82}"/>
              </a:ext>
            </a:extLst>
          </p:cNvPr>
          <p:cNvSpPr txBox="1"/>
          <p:nvPr/>
        </p:nvSpPr>
        <p:spPr>
          <a:xfrm>
            <a:off x="609600" y="24130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Gerencia usuarios e senhas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C2E87E3-C103-6C3D-2FBB-6BC2189377F9}"/>
              </a:ext>
            </a:extLst>
          </p:cNvPr>
          <p:cNvSpPr/>
          <p:nvPr/>
        </p:nvSpPr>
        <p:spPr>
          <a:xfrm>
            <a:off x="431800" y="2933700"/>
            <a:ext cx="88900" cy="889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D8F16E5-7054-DC8F-14EC-3D5D5B02B63C}"/>
              </a:ext>
            </a:extLst>
          </p:cNvPr>
          <p:cNvSpPr txBox="1"/>
          <p:nvPr/>
        </p:nvSpPr>
        <p:spPr>
          <a:xfrm>
            <a:off x="609600" y="28702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Upload da planilha diaria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C79E716-8F29-F0E2-2110-7E96FDBB28E1}"/>
              </a:ext>
            </a:extLst>
          </p:cNvPr>
          <p:cNvSpPr/>
          <p:nvPr/>
        </p:nvSpPr>
        <p:spPr>
          <a:xfrm>
            <a:off x="431800" y="3390900"/>
            <a:ext cx="88900" cy="889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C154FE2-0650-A21F-3522-2EEFF60CEE12}"/>
              </a:ext>
            </a:extLst>
          </p:cNvPr>
          <p:cNvSpPr txBox="1"/>
          <p:nvPr/>
        </p:nvSpPr>
        <p:spPr>
          <a:xfrm>
            <a:off x="609600" y="33274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Acessa todos os modulos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A9FCAB6-C500-7B12-336D-C51B706D9986}"/>
              </a:ext>
            </a:extLst>
          </p:cNvPr>
          <p:cNvSpPr/>
          <p:nvPr/>
        </p:nvSpPr>
        <p:spPr>
          <a:xfrm>
            <a:off x="431800" y="3848100"/>
            <a:ext cx="88900" cy="88900"/>
          </a:xfrm>
          <a:prstGeom prst="ellipse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788E62A-89FB-4C49-C10E-1BB4536F0A21}"/>
              </a:ext>
            </a:extLst>
          </p:cNvPr>
          <p:cNvSpPr txBox="1"/>
          <p:nvPr/>
        </p:nvSpPr>
        <p:spPr>
          <a:xfrm>
            <a:off x="609600" y="37846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Gestao de Usuarios exclusiva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4DEBA25-CBBA-9B75-0ADA-5DB488748BC3}"/>
              </a:ext>
            </a:extLst>
          </p:cNvPr>
          <p:cNvSpPr/>
          <p:nvPr/>
        </p:nvSpPr>
        <p:spPr>
          <a:xfrm>
            <a:off x="3175000" y="1295400"/>
            <a:ext cx="2641600" cy="3124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CBE2588-5307-84FB-FE26-58B9B761AA77}"/>
              </a:ext>
            </a:extLst>
          </p:cNvPr>
          <p:cNvSpPr/>
          <p:nvPr/>
        </p:nvSpPr>
        <p:spPr>
          <a:xfrm>
            <a:off x="3175000" y="1295400"/>
            <a:ext cx="2641600" cy="558800"/>
          </a:xfrm>
          <a:prstGeom prst="rect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D34BC9F-94B0-29A9-82CE-6B2AE9E53114}"/>
              </a:ext>
            </a:extLst>
          </p:cNvPr>
          <p:cNvSpPr txBox="1"/>
          <p:nvPr/>
        </p:nvSpPr>
        <p:spPr>
          <a:xfrm>
            <a:off x="3276600" y="1295400"/>
            <a:ext cx="2438400" cy="5588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</a:rPr>
              <a:t>Socio / Gestor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6B2F7F6-C1F2-7551-6BA0-1D1008CC3D0F}"/>
              </a:ext>
            </a:extLst>
          </p:cNvPr>
          <p:cNvSpPr/>
          <p:nvPr/>
        </p:nvSpPr>
        <p:spPr>
          <a:xfrm>
            <a:off x="3302000" y="2019300"/>
            <a:ext cx="88900" cy="889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8A65C32-1CBC-B48C-5692-487E62C81ED3}"/>
              </a:ext>
            </a:extLst>
          </p:cNvPr>
          <p:cNvSpPr txBox="1"/>
          <p:nvPr/>
        </p:nvSpPr>
        <p:spPr>
          <a:xfrm>
            <a:off x="3479800" y="19558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Dashboard executivo completo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70D3479-B28C-848D-81CB-FFECCD81E94C}"/>
              </a:ext>
            </a:extLst>
          </p:cNvPr>
          <p:cNvSpPr/>
          <p:nvPr/>
        </p:nvSpPr>
        <p:spPr>
          <a:xfrm>
            <a:off x="3302000" y="2476500"/>
            <a:ext cx="88900" cy="889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ED1AF98-A14F-84B6-CD7C-BCCAEC29C5D5}"/>
              </a:ext>
            </a:extLst>
          </p:cNvPr>
          <p:cNvSpPr txBox="1"/>
          <p:nvPr/>
        </p:nvSpPr>
        <p:spPr>
          <a:xfrm>
            <a:off x="3479800" y="24130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Quadro Geral e Exposicao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58E4248-9778-7781-6C77-D5554457D865}"/>
              </a:ext>
            </a:extLst>
          </p:cNvPr>
          <p:cNvSpPr/>
          <p:nvPr/>
        </p:nvSpPr>
        <p:spPr>
          <a:xfrm>
            <a:off x="3302000" y="2933700"/>
            <a:ext cx="88900" cy="889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A2654E2-277E-E313-F4BE-8A2F40C597C7}"/>
              </a:ext>
            </a:extLst>
          </p:cNvPr>
          <p:cNvSpPr txBox="1"/>
          <p:nvPr/>
        </p:nvSpPr>
        <p:spPr>
          <a:xfrm>
            <a:off x="3479800" y="28702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Agendas, audiencias, equipe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96B9104-8940-96B1-76D1-9096C530DF54}"/>
              </a:ext>
            </a:extLst>
          </p:cNvPr>
          <p:cNvSpPr/>
          <p:nvPr/>
        </p:nvSpPr>
        <p:spPr>
          <a:xfrm>
            <a:off x="3302000" y="3390900"/>
            <a:ext cx="88900" cy="889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824E24A-674A-B164-8647-74B04E2226E8}"/>
              </a:ext>
            </a:extLst>
          </p:cNvPr>
          <p:cNvSpPr txBox="1"/>
          <p:nvPr/>
        </p:nvSpPr>
        <p:spPr>
          <a:xfrm>
            <a:off x="3479800" y="33274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KPIs e ranking de responsaveis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C66458C-3674-5AFA-EF19-B189F909EF17}"/>
              </a:ext>
            </a:extLst>
          </p:cNvPr>
          <p:cNvSpPr/>
          <p:nvPr/>
        </p:nvSpPr>
        <p:spPr>
          <a:xfrm>
            <a:off x="3302000" y="3848100"/>
            <a:ext cx="88900" cy="889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4B5AE50-EF38-9040-C228-E4BA90E7AF38}"/>
              </a:ext>
            </a:extLst>
          </p:cNvPr>
          <p:cNvSpPr txBox="1"/>
          <p:nvPr/>
        </p:nvSpPr>
        <p:spPr>
          <a:xfrm>
            <a:off x="3479800" y="37846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Sem gestao de usuarios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E214DBA-4D87-E855-D0F9-F331E2E3C83F}"/>
              </a:ext>
            </a:extLst>
          </p:cNvPr>
          <p:cNvSpPr/>
          <p:nvPr/>
        </p:nvSpPr>
        <p:spPr>
          <a:xfrm>
            <a:off x="6045200" y="1295400"/>
            <a:ext cx="2641600" cy="3124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C76D530-0A78-C63D-8F35-9C0079189609}"/>
              </a:ext>
            </a:extLst>
          </p:cNvPr>
          <p:cNvSpPr/>
          <p:nvPr/>
        </p:nvSpPr>
        <p:spPr>
          <a:xfrm>
            <a:off x="6045200" y="1295400"/>
            <a:ext cx="2641600" cy="5588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9C2B929-6EEA-0B7D-085B-1B8891A390D2}"/>
              </a:ext>
            </a:extLst>
          </p:cNvPr>
          <p:cNvSpPr txBox="1"/>
          <p:nvPr/>
        </p:nvSpPr>
        <p:spPr>
          <a:xfrm>
            <a:off x="6146800" y="1295400"/>
            <a:ext cx="2438400" cy="5588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</a:rPr>
              <a:t>Colaborador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87CB6FA-D5FE-D99C-D79C-CB4054C7420B}"/>
              </a:ext>
            </a:extLst>
          </p:cNvPr>
          <p:cNvSpPr/>
          <p:nvPr/>
        </p:nvSpPr>
        <p:spPr>
          <a:xfrm>
            <a:off x="6172200" y="2019300"/>
            <a:ext cx="88900" cy="889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915AB2F-4108-46FC-8158-D8748E5F32CD}"/>
              </a:ext>
            </a:extLst>
          </p:cNvPr>
          <p:cNvSpPr txBox="1"/>
          <p:nvPr/>
        </p:nvSpPr>
        <p:spPr>
          <a:xfrm>
            <a:off x="6350000" y="19558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Acessa apenas o Meu Painel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00C3F669-D8A9-7917-0D96-FA7A0CEEA0BE}"/>
              </a:ext>
            </a:extLst>
          </p:cNvPr>
          <p:cNvSpPr/>
          <p:nvPr/>
        </p:nvSpPr>
        <p:spPr>
          <a:xfrm>
            <a:off x="6172200" y="2476500"/>
            <a:ext cx="88900" cy="889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C21FE2A-F64D-ED6A-C9B6-B4C5D1260CB5}"/>
              </a:ext>
            </a:extLst>
          </p:cNvPr>
          <p:cNvSpPr txBox="1"/>
          <p:nvPr/>
        </p:nvSpPr>
        <p:spPr>
          <a:xfrm>
            <a:off x="6350000" y="24130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Visualiza seus proprios prazos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061BA197-21E9-7582-424B-6EB49C37FE81}"/>
              </a:ext>
            </a:extLst>
          </p:cNvPr>
          <p:cNvSpPr/>
          <p:nvPr/>
        </p:nvSpPr>
        <p:spPr>
          <a:xfrm>
            <a:off x="6172200" y="2933700"/>
            <a:ext cx="88900" cy="889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7B3BE64-2C6A-8A66-68BA-C0484453F0D2}"/>
              </a:ext>
            </a:extLst>
          </p:cNvPr>
          <p:cNvSpPr txBox="1"/>
          <p:nvPr/>
        </p:nvSpPr>
        <p:spPr>
          <a:xfrm>
            <a:off x="6350000" y="28702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Consulta suas audiencias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880C9EC0-B328-190C-8EF9-5E8BF12D67A4}"/>
              </a:ext>
            </a:extLst>
          </p:cNvPr>
          <p:cNvSpPr/>
          <p:nvPr/>
        </p:nvSpPr>
        <p:spPr>
          <a:xfrm>
            <a:off x="6172200" y="3390900"/>
            <a:ext cx="88900" cy="889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245BE34-6B64-C9FF-E5BB-B9F50D21F926}"/>
              </a:ext>
            </a:extLst>
          </p:cNvPr>
          <p:cNvSpPr txBox="1"/>
          <p:nvPr/>
        </p:nvSpPr>
        <p:spPr>
          <a:xfrm>
            <a:off x="6350000" y="33274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Sem acesso a dados de terceiros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63A4D7FA-AA74-4318-1392-611AC20C5E01}"/>
              </a:ext>
            </a:extLst>
          </p:cNvPr>
          <p:cNvSpPr/>
          <p:nvPr/>
        </p:nvSpPr>
        <p:spPr>
          <a:xfrm>
            <a:off x="6172200" y="3848100"/>
            <a:ext cx="88900" cy="889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47167F0-EC1F-F20B-F1A7-380CA8F243DA}"/>
              </a:ext>
            </a:extLst>
          </p:cNvPr>
          <p:cNvSpPr txBox="1"/>
          <p:nvPr/>
        </p:nvSpPr>
        <p:spPr>
          <a:xfrm>
            <a:off x="6350000" y="3784600"/>
            <a:ext cx="22606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50">
                <a:solidFill>
                  <a:srgbClr val="1A2E3B"/>
                </a:solidFill>
              </a:rPr>
              <a:t>Sem acesso gerencial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3C0A265-19AE-C135-A409-2141729D015B}"/>
              </a:ext>
            </a:extLst>
          </p:cNvPr>
          <p:cNvSpPr txBox="1"/>
          <p:nvPr/>
        </p:nvSpPr>
        <p:spPr>
          <a:xfrm>
            <a:off x="0" y="4978400"/>
            <a:ext cx="9144000" cy="1651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800">
                <a:solidFill>
                  <a:srgbClr val="557789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91029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F88484F-39AA-EF14-B47D-476E73C020A1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F52FCE-CABD-EA30-6664-79A23E3158D5}"/>
              </a:ext>
            </a:extLst>
          </p:cNvPr>
          <p:cNvSpPr txBox="1"/>
          <p:nvPr/>
        </p:nvSpPr>
        <p:spPr>
          <a:xfrm>
            <a:off x="228600" y="0"/>
            <a:ext cx="8636000" cy="660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900">
                <a:solidFill>
                  <a:srgbClr val="6699AA"/>
                </a:solidFill>
              </a:rPr>
              <a:t>LAWgico  -  Controle de Prazos e Agendas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CDA0D6-AE5E-24ED-8AB0-6DAF89A727A7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88CC9F-C3E6-5ADB-826F-54FEB3256618}"/>
              </a:ext>
            </a:extLst>
          </p:cNvPr>
          <p:cNvSpPr txBox="1"/>
          <p:nvPr/>
        </p:nvSpPr>
        <p:spPr>
          <a:xfrm>
            <a:off x="304800" y="736600"/>
            <a:ext cx="6985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2100" b="1">
                <a:solidFill>
                  <a:srgbClr val="003B5C"/>
                </a:solidFill>
              </a:rPr>
              <a:t>Rotina Diaria - Como Usar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646ECFD-C5F3-A8D4-D90E-9FEA35B6BF88}"/>
              </a:ext>
            </a:extLst>
          </p:cNvPr>
          <p:cNvSpPr/>
          <p:nvPr/>
        </p:nvSpPr>
        <p:spPr>
          <a:xfrm>
            <a:off x="304800" y="1270000"/>
            <a:ext cx="1422400" cy="292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A65FF14-F15B-0D5D-7812-BA6A918E243A}"/>
              </a:ext>
            </a:extLst>
          </p:cNvPr>
          <p:cNvSpPr/>
          <p:nvPr/>
        </p:nvSpPr>
        <p:spPr>
          <a:xfrm>
            <a:off x="838200" y="1422400"/>
            <a:ext cx="355600" cy="3556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96294D-7AB9-43A3-EC8D-1396935773FC}"/>
              </a:ext>
            </a:extLst>
          </p:cNvPr>
          <p:cNvSpPr txBox="1"/>
          <p:nvPr/>
        </p:nvSpPr>
        <p:spPr>
          <a:xfrm>
            <a:off x="838200" y="1422400"/>
            <a:ext cx="355600" cy="3556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3B5C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2568732-56E3-18E7-9F1C-EBB3F45A684E}"/>
              </a:ext>
            </a:extLst>
          </p:cNvPr>
          <p:cNvSpPr txBox="1"/>
          <p:nvPr/>
        </p:nvSpPr>
        <p:spPr>
          <a:xfrm>
            <a:off x="304800" y="1879600"/>
            <a:ext cx="1422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200" b="1">
                <a:solidFill>
                  <a:srgbClr val="00AEEF"/>
                </a:solidFill>
              </a:rPr>
              <a:t>Exportar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19694AB-E1E8-7921-00EA-DADF9BA8EC30}"/>
              </a:ext>
            </a:extLst>
          </p:cNvPr>
          <p:cNvSpPr txBox="1"/>
          <p:nvPr/>
        </p:nvSpPr>
        <p:spPr>
          <a:xfrm>
            <a:off x="368300" y="2235200"/>
            <a:ext cx="1295400" cy="1854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AACCDD"/>
                </a:solidFill>
              </a:rPr>
              <a:t>Controladoria exporta planilha Excel com prazos e agendas do dia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28D9952-70B6-50FF-AD5D-32A8901272D2}"/>
              </a:ext>
            </a:extLst>
          </p:cNvPr>
          <p:cNvSpPr txBox="1"/>
          <p:nvPr/>
        </p:nvSpPr>
        <p:spPr>
          <a:xfrm>
            <a:off x="1803400" y="2540000"/>
            <a:ext cx="254000" cy="254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400" b="1">
                <a:solidFill>
                  <a:srgbClr val="00AEEF"/>
                </a:solidFill>
              </a:rPr>
              <a:t>&gt;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9737989-3FFE-DA17-70C1-7DCBB4410062}"/>
              </a:ext>
            </a:extLst>
          </p:cNvPr>
          <p:cNvSpPr/>
          <p:nvPr/>
        </p:nvSpPr>
        <p:spPr>
          <a:xfrm>
            <a:off x="2057400" y="1270000"/>
            <a:ext cx="1422400" cy="292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B70A217-7143-7B16-3CCF-4F643D671435}"/>
              </a:ext>
            </a:extLst>
          </p:cNvPr>
          <p:cNvSpPr/>
          <p:nvPr/>
        </p:nvSpPr>
        <p:spPr>
          <a:xfrm>
            <a:off x="2590800" y="1422400"/>
            <a:ext cx="355600" cy="3556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9FC6103-09C4-6005-69B0-1FD47B712C97}"/>
              </a:ext>
            </a:extLst>
          </p:cNvPr>
          <p:cNvSpPr txBox="1"/>
          <p:nvPr/>
        </p:nvSpPr>
        <p:spPr>
          <a:xfrm>
            <a:off x="2590800" y="1422400"/>
            <a:ext cx="355600" cy="3556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3B5C"/>
                </a:solidFill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A2B77B2-EA6F-8D52-6A89-7EA5E103CD0F}"/>
              </a:ext>
            </a:extLst>
          </p:cNvPr>
          <p:cNvSpPr txBox="1"/>
          <p:nvPr/>
        </p:nvSpPr>
        <p:spPr>
          <a:xfrm>
            <a:off x="2057400" y="1879600"/>
            <a:ext cx="1422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200" b="1">
                <a:solidFill>
                  <a:srgbClr val="00AEEF"/>
                </a:solidFill>
              </a:rPr>
              <a:t>Upload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02596A-4C22-FC2A-372D-9B1DAC5AE8D5}"/>
              </a:ext>
            </a:extLst>
          </p:cNvPr>
          <p:cNvSpPr txBox="1"/>
          <p:nvPr/>
        </p:nvSpPr>
        <p:spPr>
          <a:xfrm>
            <a:off x="2120900" y="2235200"/>
            <a:ext cx="1295400" cy="1854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AACCDD"/>
                </a:solidFill>
              </a:rPr>
              <a:t>Admin faz o upload da planilha no sistema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C71786D-64B3-9C88-09A6-425335190E1F}"/>
              </a:ext>
            </a:extLst>
          </p:cNvPr>
          <p:cNvSpPr txBox="1"/>
          <p:nvPr/>
        </p:nvSpPr>
        <p:spPr>
          <a:xfrm>
            <a:off x="3556000" y="2540000"/>
            <a:ext cx="254000" cy="254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400" b="1">
                <a:solidFill>
                  <a:srgbClr val="00AEEF"/>
                </a:solidFill>
              </a:rPr>
              <a:t>&gt;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E6852DC-E983-B634-0074-AAB988759CA2}"/>
              </a:ext>
            </a:extLst>
          </p:cNvPr>
          <p:cNvSpPr/>
          <p:nvPr/>
        </p:nvSpPr>
        <p:spPr>
          <a:xfrm>
            <a:off x="3810000" y="1270000"/>
            <a:ext cx="1422400" cy="292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396CEE7-324D-2B1A-5562-4E9EBAEF18D1}"/>
              </a:ext>
            </a:extLst>
          </p:cNvPr>
          <p:cNvSpPr/>
          <p:nvPr/>
        </p:nvSpPr>
        <p:spPr>
          <a:xfrm>
            <a:off x="4343400" y="1422400"/>
            <a:ext cx="355600" cy="3556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9DE176D-34FE-555C-D0A2-89E7C70B6DAC}"/>
              </a:ext>
            </a:extLst>
          </p:cNvPr>
          <p:cNvSpPr txBox="1"/>
          <p:nvPr/>
        </p:nvSpPr>
        <p:spPr>
          <a:xfrm>
            <a:off x="4343400" y="1422400"/>
            <a:ext cx="355600" cy="3556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3B5C"/>
                </a:solidFill>
              </a:rPr>
              <a:t>3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6C80CBD-046C-AB94-9106-16FEC025A97F}"/>
              </a:ext>
            </a:extLst>
          </p:cNvPr>
          <p:cNvSpPr txBox="1"/>
          <p:nvPr/>
        </p:nvSpPr>
        <p:spPr>
          <a:xfrm>
            <a:off x="3810000" y="1879600"/>
            <a:ext cx="1422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200" b="1">
                <a:solidFill>
                  <a:srgbClr val="00AEEF"/>
                </a:solidFill>
              </a:rPr>
              <a:t>Atualiza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AAC7AFB-9784-A824-355F-3B8BC2352CE0}"/>
              </a:ext>
            </a:extLst>
          </p:cNvPr>
          <p:cNvSpPr txBox="1"/>
          <p:nvPr/>
        </p:nvSpPr>
        <p:spPr>
          <a:xfrm>
            <a:off x="3873500" y="2235200"/>
            <a:ext cx="1295400" cy="1854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AACCDD"/>
                </a:solidFill>
              </a:rPr>
              <a:t>Sistema processa e atualiza todos os KPIs automaticamente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54C642D-0763-ED51-7C2F-8100E9B72E09}"/>
              </a:ext>
            </a:extLst>
          </p:cNvPr>
          <p:cNvSpPr txBox="1"/>
          <p:nvPr/>
        </p:nvSpPr>
        <p:spPr>
          <a:xfrm>
            <a:off x="5308600" y="2540000"/>
            <a:ext cx="254000" cy="254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400" b="1">
                <a:solidFill>
                  <a:srgbClr val="00AEEF"/>
                </a:solidFill>
              </a:rPr>
              <a:t>&gt;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8D31C9D-42D0-BFF2-ADED-3874FD7CDC6C}"/>
              </a:ext>
            </a:extLst>
          </p:cNvPr>
          <p:cNvSpPr/>
          <p:nvPr/>
        </p:nvSpPr>
        <p:spPr>
          <a:xfrm>
            <a:off x="5562600" y="1270000"/>
            <a:ext cx="1422400" cy="292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0F13F0C-F9B5-76E9-EC8D-3BC91042090A}"/>
              </a:ext>
            </a:extLst>
          </p:cNvPr>
          <p:cNvSpPr/>
          <p:nvPr/>
        </p:nvSpPr>
        <p:spPr>
          <a:xfrm>
            <a:off x="6096000" y="1422400"/>
            <a:ext cx="355600" cy="3556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747A9C1-20F8-73D5-5F0A-7C3C32B5057C}"/>
              </a:ext>
            </a:extLst>
          </p:cNvPr>
          <p:cNvSpPr txBox="1"/>
          <p:nvPr/>
        </p:nvSpPr>
        <p:spPr>
          <a:xfrm>
            <a:off x="6096000" y="1422400"/>
            <a:ext cx="355600" cy="3556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3B5C"/>
                </a:solidFill>
              </a:rPr>
              <a:t>4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57F1554-4DB8-E689-954F-6EDF46355BD1}"/>
              </a:ext>
            </a:extLst>
          </p:cNvPr>
          <p:cNvSpPr txBox="1"/>
          <p:nvPr/>
        </p:nvSpPr>
        <p:spPr>
          <a:xfrm>
            <a:off x="5562600" y="1879600"/>
            <a:ext cx="1422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200" b="1">
                <a:solidFill>
                  <a:srgbClr val="00AEEF"/>
                </a:solidFill>
              </a:rPr>
              <a:t>Socios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830D55E-F98D-84E8-1DF7-2DC5614F6A8E}"/>
              </a:ext>
            </a:extLst>
          </p:cNvPr>
          <p:cNvSpPr txBox="1"/>
          <p:nvPr/>
        </p:nvSpPr>
        <p:spPr>
          <a:xfrm>
            <a:off x="5626100" y="2235200"/>
            <a:ext cx="1295400" cy="1854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AACCDD"/>
                </a:solidFill>
              </a:rPr>
              <a:t>Socios acessam o Dashboard com a visao do dia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CF2CB15-8BC9-04EF-2A03-61B933A87696}"/>
              </a:ext>
            </a:extLst>
          </p:cNvPr>
          <p:cNvSpPr txBox="1"/>
          <p:nvPr/>
        </p:nvSpPr>
        <p:spPr>
          <a:xfrm>
            <a:off x="7061200" y="2540000"/>
            <a:ext cx="254000" cy="254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400" b="1">
                <a:solidFill>
                  <a:srgbClr val="00AEEF"/>
                </a:solidFill>
              </a:rPr>
              <a:t>&gt;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B5FABFC-A748-C247-B53A-A5E99C36A402}"/>
              </a:ext>
            </a:extLst>
          </p:cNvPr>
          <p:cNvSpPr/>
          <p:nvPr/>
        </p:nvSpPr>
        <p:spPr>
          <a:xfrm>
            <a:off x="7315200" y="1270000"/>
            <a:ext cx="1422400" cy="29210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4C9AE5A7-4DD6-7267-357B-2ECBE583C60B}"/>
              </a:ext>
            </a:extLst>
          </p:cNvPr>
          <p:cNvSpPr/>
          <p:nvPr/>
        </p:nvSpPr>
        <p:spPr>
          <a:xfrm>
            <a:off x="7848600" y="1422400"/>
            <a:ext cx="355600" cy="355600"/>
          </a:xfrm>
          <a:prstGeom prst="ellipse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4C64771-9E19-42C7-BEC6-A14ACE5D2B2C}"/>
              </a:ext>
            </a:extLst>
          </p:cNvPr>
          <p:cNvSpPr txBox="1"/>
          <p:nvPr/>
        </p:nvSpPr>
        <p:spPr>
          <a:xfrm>
            <a:off x="7848600" y="1422400"/>
            <a:ext cx="355600" cy="3556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03B5C"/>
                </a:solidFill>
              </a:rPr>
              <a:t>5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5DE786C-9437-6B3D-41EA-F7C9C3682A04}"/>
              </a:ext>
            </a:extLst>
          </p:cNvPr>
          <p:cNvSpPr txBox="1"/>
          <p:nvPr/>
        </p:nvSpPr>
        <p:spPr>
          <a:xfrm>
            <a:off x="7315200" y="1879600"/>
            <a:ext cx="1422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1200" b="1">
                <a:solidFill>
                  <a:srgbClr val="00AEEF"/>
                </a:solidFill>
              </a:rPr>
              <a:t>Equipe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5BE6CB5-DCD2-5341-CE4D-B65DDC49E47B}"/>
              </a:ext>
            </a:extLst>
          </p:cNvPr>
          <p:cNvSpPr txBox="1"/>
          <p:nvPr/>
        </p:nvSpPr>
        <p:spPr>
          <a:xfrm>
            <a:off x="7378700" y="2235200"/>
            <a:ext cx="1295400" cy="1854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pt-BR" sz="950">
                <a:solidFill>
                  <a:srgbClr val="AACCDD"/>
                </a:solidFill>
              </a:rPr>
              <a:t>Colaboradores acessam o Meu Painel com seus prazos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A80B801-EE71-54EE-46D1-76C1A95DD14C}"/>
              </a:ext>
            </a:extLst>
          </p:cNvPr>
          <p:cNvSpPr txBox="1"/>
          <p:nvPr/>
        </p:nvSpPr>
        <p:spPr>
          <a:xfrm>
            <a:off x="0" y="4978400"/>
            <a:ext cx="9144000" cy="1651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800">
                <a:solidFill>
                  <a:srgbClr val="557789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103891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8DD3439-A2EE-9ED6-EFA2-70A6616C768D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03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C577FC-F4F3-1CE9-201F-B5D4BF28D1FA}"/>
              </a:ext>
            </a:extLst>
          </p:cNvPr>
          <p:cNvSpPr txBox="1"/>
          <p:nvPr/>
        </p:nvSpPr>
        <p:spPr>
          <a:xfrm>
            <a:off x="228600" y="0"/>
            <a:ext cx="8636000" cy="660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900">
                <a:solidFill>
                  <a:srgbClr val="6699AA"/>
                </a:solidFill>
              </a:rPr>
              <a:t>LAWgico  -  Controle de Prazos e Agendas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CF8C1D-CA4B-D242-8A8C-6F25B57C7ECC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7233F6-78EC-3DA8-F585-E4CAB11ED090}"/>
              </a:ext>
            </a:extLst>
          </p:cNvPr>
          <p:cNvSpPr txBox="1"/>
          <p:nvPr/>
        </p:nvSpPr>
        <p:spPr>
          <a:xfrm>
            <a:off x="304800" y="736600"/>
            <a:ext cx="6985000" cy="4572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2100" b="1">
                <a:solidFill>
                  <a:srgbClr val="003B5C"/>
                </a:solidFill>
              </a:rPr>
              <a:t>Acesso ao Sistema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D0A8FBF-3A1E-5CDF-2C3E-B9F6DDC616DB}"/>
              </a:ext>
            </a:extLst>
          </p:cNvPr>
          <p:cNvSpPr/>
          <p:nvPr/>
        </p:nvSpPr>
        <p:spPr>
          <a:xfrm>
            <a:off x="304800" y="1295400"/>
            <a:ext cx="8534400" cy="533400"/>
          </a:xfrm>
          <a:prstGeom prst="rect">
            <a:avLst/>
          </a:prstGeom>
          <a:solidFill>
            <a:srgbClr val="003B5C"/>
          </a:solidFill>
          <a:ln w="12700">
            <a:solidFill>
              <a:srgbClr val="00AE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31F007-3CF0-7609-D198-F78C34D86BAA}"/>
              </a:ext>
            </a:extLst>
          </p:cNvPr>
          <p:cNvSpPr txBox="1"/>
          <p:nvPr/>
        </p:nvSpPr>
        <p:spPr>
          <a:xfrm>
            <a:off x="457200" y="1295400"/>
            <a:ext cx="8229600" cy="533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250" b="1">
                <a:solidFill>
                  <a:srgbClr val="00AEEF"/>
                </a:solidFill>
              </a:rPr>
              <a:t>peixotoecury.github.io/dashboard-juridico/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0795B5A-3B48-D271-B68E-CAC54DF80AFA}"/>
              </a:ext>
            </a:extLst>
          </p:cNvPr>
          <p:cNvSpPr/>
          <p:nvPr/>
        </p:nvSpPr>
        <p:spPr>
          <a:xfrm>
            <a:off x="304800" y="1981200"/>
            <a:ext cx="279400" cy="2794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5E31EB-10F7-B194-417E-7345F43E85FE}"/>
              </a:ext>
            </a:extLst>
          </p:cNvPr>
          <p:cNvSpPr txBox="1"/>
          <p:nvPr/>
        </p:nvSpPr>
        <p:spPr>
          <a:xfrm>
            <a:off x="304800" y="1968500"/>
            <a:ext cx="279400" cy="3048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502BF7-128A-3EDC-212F-C626481B06B6}"/>
              </a:ext>
            </a:extLst>
          </p:cNvPr>
          <p:cNvSpPr txBox="1"/>
          <p:nvPr/>
        </p:nvSpPr>
        <p:spPr>
          <a:xfrm>
            <a:off x="685800" y="1968500"/>
            <a:ext cx="81026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A2E3B"/>
                </a:solidFill>
              </a:rPr>
              <a:t>Abra o navegador (Chrome, Edge ou Firefox) e acesse o link acima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950E4DA-437D-E9A6-D836-F9EF53EDF333}"/>
              </a:ext>
            </a:extLst>
          </p:cNvPr>
          <p:cNvSpPr/>
          <p:nvPr/>
        </p:nvSpPr>
        <p:spPr>
          <a:xfrm>
            <a:off x="304800" y="2463800"/>
            <a:ext cx="279400" cy="2794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A4473C-963A-BE23-B10E-8BA3B5F32099}"/>
              </a:ext>
            </a:extLst>
          </p:cNvPr>
          <p:cNvSpPr txBox="1"/>
          <p:nvPr/>
        </p:nvSpPr>
        <p:spPr>
          <a:xfrm>
            <a:off x="304800" y="2451100"/>
            <a:ext cx="279400" cy="3048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C40630-6ADA-F5E8-3DCB-8D70A302FC41}"/>
              </a:ext>
            </a:extLst>
          </p:cNvPr>
          <p:cNvSpPr txBox="1"/>
          <p:nvPr/>
        </p:nvSpPr>
        <p:spPr>
          <a:xfrm>
            <a:off x="685800" y="2451100"/>
            <a:ext cx="81026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A2E3B"/>
                </a:solidFill>
              </a:rPr>
              <a:t>Digite seu e-mail corporativo @peixotoecury.com.br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22B3FF9-2771-8132-6405-63E808104BCE}"/>
              </a:ext>
            </a:extLst>
          </p:cNvPr>
          <p:cNvSpPr/>
          <p:nvPr/>
        </p:nvSpPr>
        <p:spPr>
          <a:xfrm>
            <a:off x="304800" y="2946400"/>
            <a:ext cx="279400" cy="2794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7F95E2-D59B-8CDD-03D3-26A09AF80FED}"/>
              </a:ext>
            </a:extLst>
          </p:cNvPr>
          <p:cNvSpPr txBox="1"/>
          <p:nvPr/>
        </p:nvSpPr>
        <p:spPr>
          <a:xfrm>
            <a:off x="304800" y="2933700"/>
            <a:ext cx="279400" cy="3048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9DF437B-FC46-6012-03E6-D67D12A0EBAD}"/>
              </a:ext>
            </a:extLst>
          </p:cNvPr>
          <p:cNvSpPr txBox="1"/>
          <p:nvPr/>
        </p:nvSpPr>
        <p:spPr>
          <a:xfrm>
            <a:off x="685800" y="2933700"/>
            <a:ext cx="81026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A2E3B"/>
                </a:solidFill>
              </a:rPr>
              <a:t>Use a senha fornecida pela Controladoria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B999373-0DEF-F3C2-2310-68EC7849C589}"/>
              </a:ext>
            </a:extLst>
          </p:cNvPr>
          <p:cNvSpPr/>
          <p:nvPr/>
        </p:nvSpPr>
        <p:spPr>
          <a:xfrm>
            <a:off x="304800" y="3429000"/>
            <a:ext cx="279400" cy="279400"/>
          </a:xfrm>
          <a:prstGeom prst="ellipse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40D44BB-BF6A-38F1-3FD9-4036A1975823}"/>
              </a:ext>
            </a:extLst>
          </p:cNvPr>
          <p:cNvSpPr txBox="1"/>
          <p:nvPr/>
        </p:nvSpPr>
        <p:spPr>
          <a:xfrm>
            <a:off x="304800" y="3416300"/>
            <a:ext cx="279400" cy="3048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404EAEB-0EC4-F013-3919-76A56FDD362C}"/>
              </a:ext>
            </a:extLst>
          </p:cNvPr>
          <p:cNvSpPr txBox="1"/>
          <p:nvPr/>
        </p:nvSpPr>
        <p:spPr>
          <a:xfrm>
            <a:off x="685800" y="3416300"/>
            <a:ext cx="8102600" cy="3810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A2E3B"/>
                </a:solidFill>
              </a:rPr>
              <a:t>Para alterar a senha: clique em Alterar Senha no canto superior direito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DCC53C9-3D48-BF40-BEC2-EB5ACBDD407E}"/>
              </a:ext>
            </a:extLst>
          </p:cNvPr>
          <p:cNvSpPr/>
          <p:nvPr/>
        </p:nvSpPr>
        <p:spPr>
          <a:xfrm>
            <a:off x="304800" y="4546600"/>
            <a:ext cx="8534400" cy="304800"/>
          </a:xfrm>
          <a:prstGeom prst="rect">
            <a:avLst/>
          </a:prstGeom>
          <a:solidFill>
            <a:srgbClr val="FFF3E0"/>
          </a:solidFill>
          <a:ln w="9525">
            <a:solidFill>
              <a:srgbClr val="E65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2C726D5-2130-EFDC-7001-A32CE0B9C982}"/>
              </a:ext>
            </a:extLst>
          </p:cNvPr>
          <p:cNvSpPr txBox="1"/>
          <p:nvPr/>
        </p:nvSpPr>
        <p:spPr>
          <a:xfrm>
            <a:off x="406400" y="4546600"/>
            <a:ext cx="8382000" cy="3048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pt-BR" sz="950">
                <a:solidFill>
                  <a:srgbClr val="E65100"/>
                </a:solidFill>
              </a:rPr>
              <a:t>Acesso restrito - Peixoto &amp; Cury Advogados  -  Duvidas? Fale com a Controladoria.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A26D369-2B1C-BD3B-F131-D5A9668083D4}"/>
              </a:ext>
            </a:extLst>
          </p:cNvPr>
          <p:cNvSpPr txBox="1"/>
          <p:nvPr/>
        </p:nvSpPr>
        <p:spPr>
          <a:xfrm>
            <a:off x="0" y="4978400"/>
            <a:ext cx="9144000" cy="1651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pt-BR" sz="800">
                <a:solidFill>
                  <a:srgbClr val="557789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2932992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CDE66F-6208-E0EC-77C0-2E4794F13F6D}"/>
              </a:ext>
            </a:extLst>
          </p:cNvPr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0AE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CCE7205-F318-4D8E-937C-CBC32B30E70D}"/>
              </a:ext>
            </a:extLst>
          </p:cNvPr>
          <p:cNvSpPr/>
          <p:nvPr/>
        </p:nvSpPr>
        <p:spPr>
          <a:xfrm>
            <a:off x="0" y="63500"/>
            <a:ext cx="304800" cy="5080000"/>
          </a:xfrm>
          <a:prstGeom prst="rect">
            <a:avLst/>
          </a:prstGeom>
          <a:solidFill>
            <a:srgbClr val="0060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EB001EF-DA08-2B6D-3BE1-C273D1D7CEA8}"/>
              </a:ext>
            </a:extLst>
          </p:cNvPr>
          <p:cNvSpPr/>
          <p:nvPr/>
        </p:nvSpPr>
        <p:spPr>
          <a:xfrm>
            <a:off x="6477000" y="-381000"/>
            <a:ext cx="3175000" cy="3175000"/>
          </a:xfrm>
          <a:prstGeom prst="ellipse">
            <a:avLst/>
          </a:prstGeom>
          <a:solidFill>
            <a:srgbClr val="004E7C">
              <a:alpha val="7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AD0AB3-3F58-7EF3-641F-AE07FF83B942}"/>
              </a:ext>
            </a:extLst>
          </p:cNvPr>
          <p:cNvSpPr txBox="1"/>
          <p:nvPr/>
        </p:nvSpPr>
        <p:spPr>
          <a:xfrm>
            <a:off x="571500" y="660400"/>
            <a:ext cx="4318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pt-BR" sz="6200" b="1">
                <a:solidFill>
                  <a:srgbClr val="FFFFFF"/>
                </a:solidFill>
                <a:latin typeface="Calibri" panose="020F0502020204030204" pitchFamily="34" charset="0"/>
              </a:rPr>
              <a:t>LAW</a:t>
            </a:r>
            <a:r>
              <a:rPr lang="pt-BR" sz="6200">
                <a:solidFill>
                  <a:srgbClr val="00AEEF"/>
                </a:solidFill>
                <a:latin typeface="Calibri" panose="020F0502020204030204" pitchFamily="34" charset="0"/>
              </a:rPr>
              <a:t>gico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EB50BC-0CB3-2171-E797-B1E5B6FF71AF}"/>
              </a:ext>
            </a:extLst>
          </p:cNvPr>
          <p:cNvSpPr txBox="1"/>
          <p:nvPr/>
        </p:nvSpPr>
        <p:spPr>
          <a:xfrm>
            <a:off x="571500" y="1549400"/>
            <a:ext cx="5080000" cy="355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600">
                <a:solidFill>
                  <a:srgbClr val="99C8DC"/>
                </a:solidFill>
              </a:rPr>
              <a:t>Prazos &amp; Agendas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48BF8F-2BD8-0F0A-8726-535B7A4473C8}"/>
              </a:ext>
            </a:extLst>
          </p:cNvPr>
          <p:cNvSpPr txBox="1"/>
          <p:nvPr/>
        </p:nvSpPr>
        <p:spPr>
          <a:xfrm>
            <a:off x="571500" y="2006600"/>
            <a:ext cx="60960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300">
                <a:solidFill>
                  <a:srgbClr val="88BBCC"/>
                </a:solidFill>
              </a:rPr>
              <a:t>Desenvolvido internamente pela Controladoria</a:t>
            </a:r>
          </a:p>
        </p:txBody>
      </p:sp>
      <p:sp>
        <p:nvSpPr>
          <p:cNvPr id="8" name="Semicírculo 7">
            <a:extLst>
              <a:ext uri="{FF2B5EF4-FFF2-40B4-BE49-F238E27FC236}">
                <a16:creationId xmlns:a16="http://schemas.microsoft.com/office/drawing/2014/main" id="{2C314817-8806-EEEE-696D-42BA8DD69A4D}"/>
              </a:ext>
            </a:extLst>
          </p:cNvPr>
          <p:cNvSpPr/>
          <p:nvPr/>
        </p:nvSpPr>
        <p:spPr>
          <a:xfrm>
            <a:off x="571500" y="2463800"/>
            <a:ext cx="3556000" cy="0"/>
          </a:xfrm>
          <a:prstGeom prst="blockArc">
            <a:avLst/>
          </a:prstGeom>
          <a:ln w="19050">
            <a:solidFill>
              <a:srgbClr val="00AE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757C03-B773-7DA7-FD5D-F343BEFCAFBE}"/>
              </a:ext>
            </a:extLst>
          </p:cNvPr>
          <p:cNvSpPr txBox="1"/>
          <p:nvPr/>
        </p:nvSpPr>
        <p:spPr>
          <a:xfrm>
            <a:off x="571500" y="2641600"/>
            <a:ext cx="60960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300">
                <a:solidFill>
                  <a:srgbClr val="99C8DC"/>
                </a:solidFill>
              </a:rPr>
              <a:t>Duvidas ou acesso? Fale com a Controladoria.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26DC07-A6FF-4BBA-61E3-5E6072823458}"/>
              </a:ext>
            </a:extLst>
          </p:cNvPr>
          <p:cNvSpPr txBox="1"/>
          <p:nvPr/>
        </p:nvSpPr>
        <p:spPr>
          <a:xfrm>
            <a:off x="571500" y="3251200"/>
            <a:ext cx="6096000" cy="2540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pt-BR" sz="1000">
                <a:solidFill>
                  <a:srgbClr val="6699AA"/>
                </a:solidFill>
              </a:rPr>
              <a:t>Peixoto &amp; Cury Advogados  -  Controladoria  -  2026</a:t>
            </a:r>
          </a:p>
        </p:txBody>
      </p:sp>
    </p:spTree>
    <p:extLst>
      <p:ext uri="{BB962C8B-B14F-4D97-AF65-F5344CB8AC3E}">
        <p14:creationId xmlns:p14="http://schemas.microsoft.com/office/powerpoint/2010/main" val="2207757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Personalizar</PresentationFormat>
  <Paragraphs>129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Carolina Martini | Peixoto &amp; Cury</dc:creator>
  <cp:lastModifiedBy>Ana Carolina Martini | Peixoto &amp; Cury</cp:lastModifiedBy>
  <cp:revision>1</cp:revision>
  <dcterms:created xsi:type="dcterms:W3CDTF">2026-05-25T12:31:07Z</dcterms:created>
  <dcterms:modified xsi:type="dcterms:W3CDTF">2026-05-25T12:31:12Z</dcterms:modified>
</cp:coreProperties>
</file>